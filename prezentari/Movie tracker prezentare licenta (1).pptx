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g5c5cdead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5c5cdead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g5c5cdeadd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5c5cdeadd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Aplicatia creata de mine pentru licenta poarta numele de Movie Tracker. Este o aplicatie adresata cinefililor, menita sa rezolva o parte din probleme pe care acestia le pot intalnii atunci cand vor sa priveasca un film. Astfel aplicatia pune la dispozitie functionalitati de consultare a unei baze de date de filme in cazul in care utilizatorii doresc sa caute un film din care isi aduceau aminte doar pasaje, sau parti din titlu, a unei functionalitati de obtinere de recomandari pe baza unui film pe care l-au vazut, sau a unei functionalitati de obtinere a recomandarilor pe baza unui set de filme vazure sau pe care utilizatorul doreste sa le vada.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g5c5cdead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5c5cdead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La nivel înalt, aplicația se bazează pe relația client-server, astfel încât modulul de front-end serveste drept client, iar cel de back-end ca server, expunând funcționalitățile lui prin intermediul unui API. Baza de date, relațională, este întreținută prin intermediul unor fișiere de migrare idempotente. La ce ajuta? La momentul deployment-ului, Liquibase scaneaza baza de date pentru existenta unui tabel de meta-date si a migrarilor din acesta, apoi le ruleaza pe cele care nu sunt prezente in tabel. Astfel, asiguram o versionare a bazei de date. Modulul de backend, construit cu Java si Spring, se conecteaza la baza de date si relationeaza cu aceasta cu ajutorul modulului Spring JPA. Un mare avantaj al acestuia este ca reuseste sa genereze implementari ale interfetelor pe baza numelui metodelor. Front-end ul este scris cu Angular7 si comunica securizat cu modulul de backend pentru a asigura fluxul de date catre utiizatori.</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5" name="Shape 145"/>
        <p:cNvGrpSpPr/>
        <p:nvPr/>
      </p:nvGrpSpPr>
      <p:grpSpPr>
        <a:xfrm>
          <a:off x="0" y="0"/>
          <a:ext cx="0" cy="0"/>
          <a:chOff x="0" y="0"/>
          <a:chExt cx="0" cy="0"/>
        </a:xfrm>
      </p:grpSpPr>
      <p:sp>
        <p:nvSpPr>
          <p:cNvPr id="146" name="Google Shape;146;g5c5cdeadd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5c5cdeadd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Arhitectura modulului de backend este una pe straturi, si arata ca in aceasta imagine. Cel mai de jos strat este cel al obiectelor care asigura conexiunea cu baza de date si doar asigura fuluxul de date intre servicii si baza. Urmeaza stratul serviciilor, aici se aplica toata logica de business necesara prelucrarii datelor. Tot pe acest nivel este implementat si motorul de recomandare. Ultimul strat, este reprezentat de obiecte controller, care expun functionalitatile serviciilor prin intermediul unui API. Cum este imlpementata in aplicatie? Serviciile includ obiecte DAO, iar controllerele includ servicii. Toate clasele amintite deasupra sunt singleton, deoarece nu este nevoie de mai mult de o instanta a acestora in aplicatie, ele nestocand informatii din datele care circula prin sistem. De faptul ca exista o singura instanta a acestor clase in aplicatie se ocupa Spring Core prin principiul Inversion of Control. Astfel, el se ocupa de injectarea dependintelor, la constructia obiectului, fie prin constructor, fie prin setteri si atributul @Autowired.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5c5cdeadd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5c5cdeadd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Avantajele arhitecturii pe straturi sunt: usurinta de implementare si intelegere a unui cod scris astfel, deoarece straturile au roluri bine definite, usurinta de testabilitate intrucat in cazul unui test unitar, se simuleaza dependintele prin obiecte si se testeaza usor iesirile metodelor. Un dezavantaj general al arhitecturii pe straturi este faptul ca uneori informatia trebuie sa strabata toate straturile, chiar daca nu sunt modificare intr-unul din ele sau ca atunci cand se modifica doar si un singur strat, este nevoie de redeployul intregii aplicatii.  Ce alte arhitecturi puteam implementa? Event-driven ar fi fost greu de implementat, nefiind pliabila pe situatie, fiindca era nevoie de o componenta centrala care sa primeasca toate requesturie (asta daca privim requesturile ca evenimente). Arhitectura poate fi privita si ca una pe microservicii, cu un singur serviciu. Într-adevar puteam sa separ motorul de recomandare ca un serviciu separat, dar am ales o varianta mai usor de intretinut de un singur dezvoltator.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7" name="Shape 157"/>
        <p:cNvGrpSpPr/>
        <p:nvPr/>
      </p:nvGrpSpPr>
      <p:grpSpPr>
        <a:xfrm>
          <a:off x="0" y="0"/>
          <a:ext cx="0" cy="0"/>
          <a:chOff x="0" y="0"/>
          <a:chExt cx="0" cy="0"/>
        </a:xfrm>
      </p:grpSpPr>
      <p:sp>
        <p:nvSpPr>
          <p:cNvPr id="158" name="Google Shape;158;g5c5cdeadd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5c5cdeadd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In aplicatia de front-end, arhitectura este specifica proiectelor scrise in versiuni de Angular incepand cu Angular 2. Fiecare pagina pe care o vedem este un template, care este compus din diretive (ex: tabele, directive de slide-show), majoritatea importate din librarii externe. In spatele template-urilor se afla o componenta, care reprezinta o oglinda a proprietatilor paginii, astfel ca, atunci cand ceva se schimba in pagina (ex: userul completeaza un formular), un eveniment este generat si prins de catre componenta, iar atunci cand un camp dintr-o componenta se modifica, se modifica si componenta html corespunzatoarea din template. Componenta se foloseste de date furnizate de servicii. In cazul Movie Tracker, serviciile se conencteaza la API-ul modului de backend prin requesturi HTTP. Template-ul si componenta formeaza un modul, iar movie tracker contine cate un modul pentru fiecare entitate, plus cateva module de management si doua module pentru dashboard-ul de filme si cel al utilizatorului.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3" name="Shape 163"/>
        <p:cNvGrpSpPr/>
        <p:nvPr/>
      </p:nvGrpSpPr>
      <p:grpSpPr>
        <a:xfrm>
          <a:off x="0" y="0"/>
          <a:ext cx="0" cy="0"/>
          <a:chOff x="0" y="0"/>
          <a:chExt cx="0" cy="0"/>
        </a:xfrm>
      </p:grpSpPr>
      <p:sp>
        <p:nvSpPr>
          <p:cNvPr id="164" name="Google Shape;164;g5c5cdeadd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5c5cdeadd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Pentru constructia modului de recomandare, am ales sa plec de la o baza teoretica, prin compararea a doua posibile metode, recomandare pe baza continutului sau recomandare prin filtrare colaborativa. Prima, recomandarea pe baza continutului se axeaza pe proprietatile produsului, filmului in cazul meu, pe titlu, pe descriere, pe actori. Recomandarea functioneaza independent de alti utilizatori, astfel incat doar activitatea utilizatorului poate influenta acest tip de recomandare. Este folosita in principiu in aplicatie de cumparaturi. A doua metoda, filtrarea colaborativa, se axeaza pe placerile unui grup mai mare de persoane, astfel incat are nevoie de definirea unor grupuri de utilizatori, o impartire pe clustere pe baza aprecierilor precedente in aplicatie. Metoda functioneaza astfel: daca tu ai trei prieteni care au apreciat produsul A, atunci mai mult ca sigur si tie iti va placea, astfel, primesti si tu aceasta recomandare. Fara date initiale, metoda are erori destul de mari. Este intalnita des in aplicatiile de socializare, atunci cand sunt recomandate pagini sau prieteni noi.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g5c5cdeadd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5c5cdeadd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Am ales sa continui cu recomandarea pe baza continutului deoarece se pliaza mai bine pe scopul aplicatiei. Primul lucru a fost sa definesc ce inseamna similaritatea intre doua filme. Pe baza unui articol specificat in bibliografie, am ales sa aplic similaritatea cosinus, pentru un set de atribute numerice ale oricaror doua filme. Ce sunt aceste atribute numerice? Am ales sa merg pe urmatorul model: normalizez datele, selectez datele importante, aplic formula din imagine. Normalizarea datelor a presupus selectarea titlului, a actorilor si regizorilor si a plotului. Toate cuvintele au fost scrise cu litera mica, numele actorilor si al regizorilor a fost lipit cu prenumele lor. Din plot am selectat cele mai importante 10 cuvinte, adica cele mai putin frecvente dintr-o baza de date de cuvinte formata dintr-un set initial de 40 000 de cuvinte din limba engleza, la care se adauga ploturile filmelor. Dupa obtinerea datelor normalizate pentru fiecare film, obtin un set de cuvinte pentru fiecare. Calculez pentru oricare doua filme doi vectori de frecventa a cuvintelor ambelor filme, peste care aplic formula de mai sus.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g5c5cdeadd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5c5cdeadd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g5c5cdeadd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5c5cdeadd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Cum observăm capacitatea modului de recomandare in aplicatie? Atunci cand utilizatorul nu este inregistrat si el acceseaza detaliile unui film, el va primi in partea de jos a paginii recomandari pe baza acelui film. In cazul in care utilizatorul este inregistrat, el va avea acces la dashboard-ul personal. Daca il acceseaza si are filme adaugate in istoric sau in wishlist, atunci el va putea observa in josul paginii recomandari pe baza celor doua seturi de date de deasupra, ca in imagine.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g5c5cdeadd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5c5cdeadd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5c5cdeadd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5c5cdeadd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5c5cdeadd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5c5cdeadd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De ce am ales sa folosesc un servicii Cloud? Avantajul principal al acestora consta in pasarea responsabilitatii infrastructurii pe care va rula aplicatia catre o alta entitate, astfel incat programatorii sa urmareasca doar procesul de dezvoltare. Am ales Heroku pentru deploy-ul aplicatiei deoarece dezvoltatorii JHipster au colaborat cu cei de la Heroku, facand posibil deploy-ul prin instalarea Heroku CLI si apoi prin rularea comenzii jhipster heroku. De aici, vei trece printr-o suita de intrebari menite sa configureze aplicatia.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5c5cdeadd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5c5cdeadd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Pentru a usura si mai tare procesul de dezvoltare, si a nu redeploya manual aplicatia atunci cand facem vreo schimbare, am adaugat un pipeline de integrare continua, intre github si Heroku. Astfel, atunci cand facem un commit pe un branch specific, Heroku ia ultima versiune a aplicatiei din repository, creeaza buildul aplicatiei si o deploy-aza. Acestui proces i se poate atasa o suita de teste de integrare care sa fie rulate peste aplicatie, inainte ca aceasta sa fie pusa la dispozitia utilizatorilor.</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g5c5cdeadd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5c5cdeadd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Datorita popularitatii si al aceluiasi motiv legat de infrastructura, am ales sa folosesc o baza de date in Cloud, host-ata pe Azure. Totusi, serviciile sunt destul de costisitoare, creditul alocat contului de student terminandu-se in mai putin de o luna. De aceea, sugerez ca alternativa folosirea unor noi tehnologii, cum ar fi cele serverless puse la dispozitie de Amazon AWS, care taxeaza utilizatorii doar cat timp aplicatia este in uz, nu si cat timp este in asteptare.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4" name="Shape 224"/>
        <p:cNvGrpSpPr/>
        <p:nvPr/>
      </p:nvGrpSpPr>
      <p:grpSpPr>
        <a:xfrm>
          <a:off x="0" y="0"/>
          <a:ext cx="0" cy="0"/>
          <a:chOff x="0" y="0"/>
          <a:chExt cx="0" cy="0"/>
        </a:xfrm>
      </p:grpSpPr>
      <p:sp>
        <p:nvSpPr>
          <p:cNvPr id="225" name="Google Shape;225;g5c5cdeadd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5c5cdeadd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830392" y="1191256"/>
            <a:ext cx="745763" cy="45826"/>
            <a:chOff x="4580561" y="2589004"/>
            <a:chExt cx="1064464" cy="25200"/>
          </a:xfrm>
        </p:grpSpPr>
        <p:sp>
          <p:nvSpPr>
            <p:cNvPr id="57" name="Google Shape;57;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14"/>
          <p:cNvSpPr txBox="1"/>
          <p:nvPr>
            <p:ph type="ctrTitle"/>
          </p:nvPr>
        </p:nvSpPr>
        <p:spPr>
          <a:xfrm>
            <a:off x="729450" y="1322450"/>
            <a:ext cx="7688100" cy="1664700"/>
          </a:xfrm>
          <a:prstGeom prst="rect">
            <a:avLst/>
          </a:prstGeom>
        </p:spPr>
        <p:txBody>
          <a:bodyPr anchorCtr="0" anchor="t" bIns="91425" lIns="91425" spcFirstLastPara="1" rIns="91425" wrap="square" tIns="91425"/>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60" name="Google Shape;60;p14"/>
          <p:cNvSpPr txBox="1"/>
          <p:nvPr>
            <p:ph idx="1" type="subTitle"/>
          </p:nvPr>
        </p:nvSpPr>
        <p:spPr>
          <a:xfrm>
            <a:off x="729627" y="3172900"/>
            <a:ext cx="7688100" cy="541200"/>
          </a:xfrm>
          <a:prstGeom prst="rect">
            <a:avLst/>
          </a:prstGeom>
        </p:spPr>
        <p:txBody>
          <a:bodyPr anchorCtr="0" anchor="t" bIns="91425" lIns="91425" spcFirstLastPara="1" rIns="91425" wrap="square" tIns="91425"/>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1" name="Google Shape;61;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62" name="Shape 62"/>
        <p:cNvGrpSpPr/>
        <p:nvPr/>
      </p:nvGrpSpPr>
      <p:grpSpPr>
        <a:xfrm>
          <a:off x="0" y="0"/>
          <a:ext cx="0" cy="0"/>
          <a:chOff x="0" y="0"/>
          <a:chExt cx="0" cy="0"/>
        </a:xfrm>
      </p:grpSpPr>
      <p:grpSp>
        <p:nvGrpSpPr>
          <p:cNvPr id="63" name="Google Shape;63;p15"/>
          <p:cNvGrpSpPr/>
          <p:nvPr/>
        </p:nvGrpSpPr>
        <p:grpSpPr>
          <a:xfrm>
            <a:off x="830392" y="1191256"/>
            <a:ext cx="745763" cy="45826"/>
            <a:chOff x="4580561" y="2589004"/>
            <a:chExt cx="1064464" cy="25200"/>
          </a:xfrm>
        </p:grpSpPr>
        <p:sp>
          <p:nvSpPr>
            <p:cNvPr id="64" name="Google Shape;6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15"/>
          <p:cNvSpPr txBox="1"/>
          <p:nvPr>
            <p:ph type="title"/>
          </p:nvPr>
        </p:nvSpPr>
        <p:spPr>
          <a:xfrm>
            <a:off x="729450" y="1322450"/>
            <a:ext cx="7688400" cy="1518600"/>
          </a:xfrm>
          <a:prstGeom prst="rect">
            <a:avLst/>
          </a:prstGeom>
        </p:spPr>
        <p:txBody>
          <a:bodyPr anchorCtr="0" anchor="t" bIns="91425" lIns="91425" spcFirstLastPara="1" rIns="91425" wrap="square" tIns="91425"/>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7" name="Google Shape;67;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68" name="Shape 68"/>
        <p:cNvGrpSpPr/>
        <p:nvPr/>
      </p:nvGrpSpPr>
      <p:grpSpPr>
        <a:xfrm>
          <a:off x="0" y="0"/>
          <a:ext cx="0" cy="0"/>
          <a:chOff x="0" y="0"/>
          <a:chExt cx="0" cy="0"/>
        </a:xfrm>
      </p:grpSpPr>
      <p:sp>
        <p:nvSpPr>
          <p:cNvPr id="69" name="Google Shape;69;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16"/>
          <p:cNvGrpSpPr/>
          <p:nvPr/>
        </p:nvGrpSpPr>
        <p:grpSpPr>
          <a:xfrm>
            <a:off x="830392" y="1191256"/>
            <a:ext cx="745763" cy="45826"/>
            <a:chOff x="4580561" y="2589004"/>
            <a:chExt cx="1064464" cy="25200"/>
          </a:xfrm>
        </p:grpSpPr>
        <p:sp>
          <p:nvSpPr>
            <p:cNvPr id="71" name="Google Shape;71;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16"/>
          <p:cNvSpPr txBox="1"/>
          <p:nvPr>
            <p:ph type="title"/>
          </p:nvPr>
        </p:nvSpPr>
        <p:spPr>
          <a:xfrm>
            <a:off x="729450" y="1318650"/>
            <a:ext cx="7688700" cy="535200"/>
          </a:xfrm>
          <a:prstGeom prst="rect">
            <a:avLst/>
          </a:prstGeom>
        </p:spPr>
        <p:txBody>
          <a:bodyPr anchorCtr="0" anchor="t" bIns="91425" lIns="91425" spcFirstLastPara="1" rIns="91425" wrap="square" tIns="91425"/>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74" name="Google Shape;74;p16"/>
          <p:cNvSpPr txBox="1"/>
          <p:nvPr>
            <p:ph idx="1" type="body"/>
          </p:nvPr>
        </p:nvSpPr>
        <p:spPr>
          <a:xfrm>
            <a:off x="729450" y="2078875"/>
            <a:ext cx="7688700" cy="2261100"/>
          </a:xfrm>
          <a:prstGeom prst="rect">
            <a:avLst/>
          </a:prstGeom>
        </p:spPr>
        <p:txBody>
          <a:bodyPr anchorCtr="0" anchor="t" bIns="91425" lIns="91425" spcFirstLastPara="1" rIns="91425" wrap="square" tIns="91425"/>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5" name="Google Shape;75;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76" name="Shape 76"/>
        <p:cNvGrpSpPr/>
        <p:nvPr/>
      </p:nvGrpSpPr>
      <p:grpSpPr>
        <a:xfrm>
          <a:off x="0" y="0"/>
          <a:ext cx="0" cy="0"/>
          <a:chOff x="0" y="0"/>
          <a:chExt cx="0" cy="0"/>
        </a:xfrm>
      </p:grpSpPr>
      <p:sp>
        <p:nvSpPr>
          <p:cNvPr id="77" name="Google Shape;77;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7"/>
          <p:cNvGrpSpPr/>
          <p:nvPr/>
        </p:nvGrpSpPr>
        <p:grpSpPr>
          <a:xfrm>
            <a:off x="830392" y="1191256"/>
            <a:ext cx="745763" cy="45826"/>
            <a:chOff x="4580561" y="2589004"/>
            <a:chExt cx="1064464" cy="25200"/>
          </a:xfrm>
        </p:grpSpPr>
        <p:sp>
          <p:nvSpPr>
            <p:cNvPr id="79" name="Google Shape;79;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7"/>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82" name="Google Shape;82;p17"/>
          <p:cNvSpPr txBox="1"/>
          <p:nvPr>
            <p:ph idx="1" type="body"/>
          </p:nvPr>
        </p:nvSpPr>
        <p:spPr>
          <a:xfrm>
            <a:off x="729325" y="2078875"/>
            <a:ext cx="3774300" cy="2261100"/>
          </a:xfrm>
          <a:prstGeom prst="rect">
            <a:avLst/>
          </a:prstGeom>
        </p:spPr>
        <p:txBody>
          <a:bodyPr anchorCtr="0" anchor="t" bIns="91425" lIns="91425" spcFirstLastPara="1" rIns="91425" wrap="square" tIns="91425"/>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3" name="Google Shape;83;p17"/>
          <p:cNvSpPr txBox="1"/>
          <p:nvPr>
            <p:ph idx="2" type="body"/>
          </p:nvPr>
        </p:nvSpPr>
        <p:spPr>
          <a:xfrm>
            <a:off x="4643604" y="2078875"/>
            <a:ext cx="3774300" cy="2261100"/>
          </a:xfrm>
          <a:prstGeom prst="rect">
            <a:avLst/>
          </a:prstGeom>
        </p:spPr>
        <p:txBody>
          <a:bodyPr anchorCtr="0" anchor="t" bIns="91425" lIns="91425" spcFirstLastPara="1" rIns="91425" wrap="square" tIns="91425"/>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4" name="Google Shape;84;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85" name="Shape 85"/>
        <p:cNvGrpSpPr/>
        <p:nvPr/>
      </p:nvGrpSpPr>
      <p:grpSpPr>
        <a:xfrm>
          <a:off x="0" y="0"/>
          <a:ext cx="0" cy="0"/>
          <a:chOff x="0" y="0"/>
          <a:chExt cx="0" cy="0"/>
        </a:xfrm>
      </p:grpSpPr>
      <p:sp>
        <p:nvSpPr>
          <p:cNvPr id="86" name="Google Shape;86;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8"/>
          <p:cNvGrpSpPr/>
          <p:nvPr/>
        </p:nvGrpSpPr>
        <p:grpSpPr>
          <a:xfrm>
            <a:off x="830392" y="1191256"/>
            <a:ext cx="745763" cy="45826"/>
            <a:chOff x="4580561" y="2589004"/>
            <a:chExt cx="1064464" cy="25200"/>
          </a:xfrm>
        </p:grpSpPr>
        <p:sp>
          <p:nvSpPr>
            <p:cNvPr id="88" name="Google Shape;88;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8"/>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91" name="Google Shape;91;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92" name="Shape 92"/>
        <p:cNvGrpSpPr/>
        <p:nvPr/>
      </p:nvGrpSpPr>
      <p:grpSpPr>
        <a:xfrm>
          <a:off x="0" y="0"/>
          <a:ext cx="0" cy="0"/>
          <a:chOff x="0" y="0"/>
          <a:chExt cx="0" cy="0"/>
        </a:xfrm>
      </p:grpSpPr>
      <p:sp>
        <p:nvSpPr>
          <p:cNvPr id="93" name="Google Shape;93;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19"/>
          <p:cNvGrpSpPr/>
          <p:nvPr/>
        </p:nvGrpSpPr>
        <p:grpSpPr>
          <a:xfrm>
            <a:off x="830392" y="1191256"/>
            <a:ext cx="745763" cy="45826"/>
            <a:chOff x="4580561" y="2589004"/>
            <a:chExt cx="1064464" cy="25200"/>
          </a:xfrm>
        </p:grpSpPr>
        <p:sp>
          <p:nvSpPr>
            <p:cNvPr id="95" name="Google Shape;95;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9"/>
          <p:cNvSpPr txBox="1"/>
          <p:nvPr>
            <p:ph type="title"/>
          </p:nvPr>
        </p:nvSpPr>
        <p:spPr>
          <a:xfrm>
            <a:off x="730000" y="1318650"/>
            <a:ext cx="3300900" cy="1381500"/>
          </a:xfrm>
          <a:prstGeom prst="rect">
            <a:avLst/>
          </a:prstGeom>
        </p:spPr>
        <p:txBody>
          <a:bodyPr anchorCtr="0" anchor="t" bIns="91425" lIns="91425" spcFirstLastPara="1" rIns="91425" wrap="square" tIns="91425"/>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98" name="Google Shape;98;p19"/>
          <p:cNvSpPr txBox="1"/>
          <p:nvPr>
            <p:ph idx="1" type="body"/>
          </p:nvPr>
        </p:nvSpPr>
        <p:spPr>
          <a:xfrm>
            <a:off x="721225" y="2781725"/>
            <a:ext cx="3300900" cy="1597500"/>
          </a:xfrm>
          <a:prstGeom prst="rect">
            <a:avLst/>
          </a:prstGeom>
        </p:spPr>
        <p:txBody>
          <a:bodyPr anchorCtr="0" anchor="t" bIns="91425" lIns="91425" spcFirstLastPara="1" rIns="91425" wrap="square" tIns="91425"/>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99" name="Google Shape;99;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830392" y="4169130"/>
            <a:ext cx="745763" cy="45826"/>
            <a:chOff x="4580561" y="2589004"/>
            <a:chExt cx="1064464" cy="25200"/>
          </a:xfrm>
        </p:grpSpPr>
        <p:sp>
          <p:nvSpPr>
            <p:cNvPr id="102" name="Google Shape;102;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20"/>
          <p:cNvSpPr txBox="1"/>
          <p:nvPr>
            <p:ph type="title"/>
          </p:nvPr>
        </p:nvSpPr>
        <p:spPr>
          <a:xfrm>
            <a:off x="729450" y="864300"/>
            <a:ext cx="7021200" cy="2985000"/>
          </a:xfrm>
          <a:prstGeom prst="rect">
            <a:avLst/>
          </a:prstGeom>
        </p:spPr>
        <p:txBody>
          <a:bodyPr anchorCtr="0" anchor="ctr" bIns="91425" lIns="91425" spcFirstLastPara="1" rIns="91425" wrap="square" tIns="91425"/>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05" name="Google Shape;105;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106" name="Shape 106"/>
        <p:cNvGrpSpPr/>
        <p:nvPr/>
      </p:nvGrpSpPr>
      <p:grpSpPr>
        <a:xfrm>
          <a:off x="0" y="0"/>
          <a:ext cx="0" cy="0"/>
          <a:chOff x="0" y="0"/>
          <a:chExt cx="0" cy="0"/>
        </a:xfrm>
      </p:grpSpPr>
      <p:sp>
        <p:nvSpPr>
          <p:cNvPr id="107" name="Google Shape;107;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21"/>
          <p:cNvGrpSpPr/>
          <p:nvPr/>
        </p:nvGrpSpPr>
        <p:grpSpPr>
          <a:xfrm>
            <a:off x="830392" y="1191256"/>
            <a:ext cx="745763" cy="45826"/>
            <a:chOff x="4580561" y="2589004"/>
            <a:chExt cx="1064464" cy="25200"/>
          </a:xfrm>
        </p:grpSpPr>
        <p:sp>
          <p:nvSpPr>
            <p:cNvPr id="109" name="Google Shape;109;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21"/>
          <p:cNvSpPr txBox="1"/>
          <p:nvPr>
            <p:ph type="title"/>
          </p:nvPr>
        </p:nvSpPr>
        <p:spPr>
          <a:xfrm>
            <a:off x="730000" y="1318650"/>
            <a:ext cx="3300900" cy="1687200"/>
          </a:xfrm>
          <a:prstGeom prst="rect">
            <a:avLst/>
          </a:prstGeom>
        </p:spPr>
        <p:txBody>
          <a:bodyPr anchorCtr="0" anchor="t" bIns="91425" lIns="91425" spcFirstLastPara="1" rIns="91425" wrap="square" tIns="91425"/>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2" name="Google Shape;112;p21"/>
          <p:cNvSpPr txBox="1"/>
          <p:nvPr>
            <p:ph idx="1" type="subTitle"/>
          </p:nvPr>
        </p:nvSpPr>
        <p:spPr>
          <a:xfrm>
            <a:off x="724950" y="3161525"/>
            <a:ext cx="3300900" cy="759000"/>
          </a:xfrm>
          <a:prstGeom prst="rect">
            <a:avLst/>
          </a:prstGeom>
        </p:spPr>
        <p:txBody>
          <a:bodyPr anchorCtr="0" anchor="t" bIns="91425" lIns="91425" spcFirstLastPara="1" rIns="91425" wrap="square" tIns="91425"/>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13" name="Google Shape;113;p21"/>
          <p:cNvSpPr txBox="1"/>
          <p:nvPr>
            <p:ph idx="2" type="body"/>
          </p:nvPr>
        </p:nvSpPr>
        <p:spPr>
          <a:xfrm>
            <a:off x="5174225" y="1352625"/>
            <a:ext cx="3374400" cy="3025500"/>
          </a:xfrm>
          <a:prstGeom prst="rect">
            <a:avLst/>
          </a:prstGeom>
        </p:spPr>
        <p:txBody>
          <a:bodyPr anchorCtr="0" anchor="t" bIns="91425" lIns="91425" spcFirstLastPara="1" rIns="91425" wrap="square" tIns="91425"/>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4" name="Google Shape;114;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115" name="Shape 115"/>
        <p:cNvGrpSpPr/>
        <p:nvPr/>
      </p:nvGrpSpPr>
      <p:grpSpPr>
        <a:xfrm>
          <a:off x="0" y="0"/>
          <a:ext cx="0" cy="0"/>
          <a:chOff x="0" y="0"/>
          <a:chExt cx="0" cy="0"/>
        </a:xfrm>
      </p:grpSpPr>
      <p:sp>
        <p:nvSpPr>
          <p:cNvPr id="116" name="Google Shape;116;p22"/>
          <p:cNvSpPr txBox="1"/>
          <p:nvPr>
            <p:ph idx="1" type="body"/>
          </p:nvPr>
        </p:nvSpPr>
        <p:spPr>
          <a:xfrm>
            <a:off x="724950" y="4372551"/>
            <a:ext cx="7697400" cy="460500"/>
          </a:xfrm>
          <a:prstGeom prst="rect">
            <a:avLst/>
          </a:prstGeom>
        </p:spPr>
        <p:txBody>
          <a:bodyPr anchorCtr="0" anchor="ctr" bIns="91425" lIns="91425" spcFirstLastPara="1" rIns="91425" wrap="square" tIns="91425"/>
          <a:lstStyle>
            <a:lvl1pPr indent="-228600" lvl="0" marL="457200" rtl="0">
              <a:lnSpc>
                <a:spcPct val="100000"/>
              </a:lnSpc>
              <a:spcBef>
                <a:spcPts val="0"/>
              </a:spcBef>
              <a:spcAft>
                <a:spcPts val="0"/>
              </a:spcAft>
              <a:buSzPts val="1300"/>
              <a:buNone/>
              <a:defRPr/>
            </a:lvl1pPr>
          </a:lstStyle>
          <a:p/>
        </p:txBody>
      </p:sp>
      <p:sp>
        <p:nvSpPr>
          <p:cNvPr id="117" name="Google Shape;117;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118" name="Shape 118"/>
        <p:cNvGrpSpPr/>
        <p:nvPr/>
      </p:nvGrpSpPr>
      <p:grpSpPr>
        <a:xfrm>
          <a:off x="0" y="0"/>
          <a:ext cx="0" cy="0"/>
          <a:chOff x="0" y="0"/>
          <a:chExt cx="0" cy="0"/>
        </a:xfrm>
      </p:grpSpPr>
      <p:grpSp>
        <p:nvGrpSpPr>
          <p:cNvPr id="119" name="Google Shape;119;p23"/>
          <p:cNvGrpSpPr/>
          <p:nvPr/>
        </p:nvGrpSpPr>
        <p:grpSpPr>
          <a:xfrm>
            <a:off x="830392" y="4169130"/>
            <a:ext cx="745763" cy="45826"/>
            <a:chOff x="4580561" y="2589004"/>
            <a:chExt cx="1064464" cy="25200"/>
          </a:xfrm>
        </p:grpSpPr>
        <p:sp>
          <p:nvSpPr>
            <p:cNvPr id="120" name="Google Shape;120;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23" name="Google Shape;123;p23"/>
          <p:cNvSpPr txBox="1"/>
          <p:nvPr>
            <p:ph idx="1" type="body"/>
          </p:nvPr>
        </p:nvSpPr>
        <p:spPr>
          <a:xfrm>
            <a:off x="729450" y="2272888"/>
            <a:ext cx="7688400" cy="1580400"/>
          </a:xfrm>
          <a:prstGeom prst="rect">
            <a:avLst/>
          </a:prstGeom>
        </p:spPr>
        <p:txBody>
          <a:bodyPr anchorCtr="0" anchor="t" bIns="91425" lIns="91425" spcFirstLastPara="1" rIns="91425" wrap="square" tIns="91425"/>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24" name="Google Shape;124;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5" name="Shape 125"/>
        <p:cNvGrpSpPr/>
        <p:nvPr/>
      </p:nvGrpSpPr>
      <p:grpSpPr>
        <a:xfrm>
          <a:off x="0" y="0"/>
          <a:ext cx="0" cy="0"/>
          <a:chOff x="0" y="0"/>
          <a:chExt cx="0" cy="0"/>
        </a:xfrm>
      </p:grpSpPr>
      <p:sp>
        <p:nvSpPr>
          <p:cNvPr id="126" name="Google Shape;126;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53" name="Google Shape;53;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towardsdatascience.com/how-to-build-from-scratch-a-content-based-movie-recommender-with-natural-language-processing-25ad400eb24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25"/>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Movie Tracker </a:t>
            </a:r>
            <a:endParaRPr/>
          </a:p>
        </p:txBody>
      </p:sp>
      <p:sp>
        <p:nvSpPr>
          <p:cNvPr id="132" name="Google Shape;132;p25"/>
          <p:cNvSpPr txBox="1"/>
          <p:nvPr>
            <p:ph idx="1" type="subTitle"/>
          </p:nvPr>
        </p:nvSpPr>
        <p:spPr>
          <a:xfrm>
            <a:off x="3391500" y="3182975"/>
            <a:ext cx="5660400" cy="1320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ro">
                <a:latin typeface="Verdana"/>
                <a:ea typeface="Verdana"/>
                <a:cs typeface="Verdana"/>
                <a:sym typeface="Verdana"/>
              </a:rPr>
              <a:t>Prof. coordonator: Lect. dr. Dobrovăț Anca Mădălina</a:t>
            </a:r>
            <a:endParaRPr>
              <a:latin typeface="Verdana"/>
              <a:ea typeface="Verdana"/>
              <a:cs typeface="Verdana"/>
              <a:sym typeface="Verdana"/>
            </a:endParaRPr>
          </a:p>
          <a:p>
            <a:pPr indent="0" lvl="0" marL="0" rtl="0" algn="r">
              <a:spcBef>
                <a:spcPts val="0"/>
              </a:spcBef>
              <a:spcAft>
                <a:spcPts val="0"/>
              </a:spcAft>
              <a:buNone/>
            </a:pPr>
            <a:r>
              <a:t/>
            </a:r>
            <a:endParaRPr>
              <a:latin typeface="Verdana"/>
              <a:ea typeface="Verdana"/>
              <a:cs typeface="Verdana"/>
              <a:sym typeface="Verdana"/>
            </a:endParaRPr>
          </a:p>
          <a:p>
            <a:pPr indent="0" lvl="0" marL="0" rtl="0" algn="r">
              <a:spcBef>
                <a:spcPts val="0"/>
              </a:spcBef>
              <a:spcAft>
                <a:spcPts val="0"/>
              </a:spcAft>
              <a:buNone/>
            </a:pPr>
            <a:r>
              <a:rPr lang="ro">
                <a:latin typeface="Verdana"/>
                <a:ea typeface="Verdana"/>
                <a:cs typeface="Verdana"/>
                <a:sym typeface="Verdana"/>
              </a:rPr>
              <a:t>Absolvent: Coteanu Vlad</a:t>
            </a:r>
            <a:endParaRPr>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pic>
        <p:nvPicPr>
          <p:cNvPr id="137" name="Google Shape;137;p26"/>
          <p:cNvPicPr preferRelativeResize="0"/>
          <p:nvPr/>
        </p:nvPicPr>
        <p:blipFill>
          <a:blip r:embed="rId3">
            <a:alphaModFix/>
          </a:blip>
          <a:stretch>
            <a:fillRect/>
          </a:stretch>
        </p:blipFill>
        <p:spPr>
          <a:xfrm>
            <a:off x="152400" y="152400"/>
            <a:ext cx="8839201" cy="48194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 name="Shape 141"/>
        <p:cNvGrpSpPr/>
        <p:nvPr/>
      </p:nvGrpSpPr>
      <p:grpSpPr>
        <a:xfrm>
          <a:off x="0" y="0"/>
          <a:ext cx="0" cy="0"/>
          <a:chOff x="0" y="0"/>
          <a:chExt cx="0" cy="0"/>
        </a:xfrm>
      </p:grpSpPr>
      <p:sp>
        <p:nvSpPr>
          <p:cNvPr id="142" name="Google Shape;142;p27"/>
          <p:cNvSpPr txBox="1"/>
          <p:nvPr/>
        </p:nvSpPr>
        <p:spPr>
          <a:xfrm>
            <a:off x="567050" y="2635100"/>
            <a:ext cx="6384900" cy="744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Verdana"/>
              <a:buChar char="●"/>
            </a:pPr>
            <a:r>
              <a:rPr lang="ro">
                <a:latin typeface="Verdana"/>
                <a:ea typeface="Verdana"/>
                <a:cs typeface="Verdana"/>
                <a:sym typeface="Verdana"/>
              </a:rPr>
              <a:t>Aplicație construită cu ajutorul framework-ului JHipster</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Baza de date: Liquibase</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Backend: Java, Spring</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Frontend: Angular 7</a:t>
            </a:r>
            <a:endParaRPr>
              <a:latin typeface="Verdana"/>
              <a:ea typeface="Verdana"/>
              <a:cs typeface="Verdana"/>
              <a:sym typeface="Verdana"/>
            </a:endParaRPr>
          </a:p>
        </p:txBody>
      </p:sp>
      <p:sp>
        <p:nvSpPr>
          <p:cNvPr id="143" name="Google Shape;143;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Arhitectura la nivel înalt a aplicației: </a:t>
            </a:r>
            <a:endParaRPr/>
          </a:p>
          <a:p>
            <a:pPr indent="0" lvl="0" marL="0" rtl="0" algn="l">
              <a:spcBef>
                <a:spcPts val="0"/>
              </a:spcBef>
              <a:spcAft>
                <a:spcPts val="0"/>
              </a:spcAft>
              <a:buNone/>
            </a:pPr>
            <a:r>
              <a:rPr lang="ro"/>
              <a:t>client - server</a:t>
            </a:r>
            <a:endParaRPr/>
          </a:p>
        </p:txBody>
      </p:sp>
      <p:pic>
        <p:nvPicPr>
          <p:cNvPr id="144" name="Google Shape;144;p27"/>
          <p:cNvPicPr preferRelativeResize="0"/>
          <p:nvPr/>
        </p:nvPicPr>
        <p:blipFill>
          <a:blip r:embed="rId3">
            <a:alphaModFix/>
          </a:blip>
          <a:stretch>
            <a:fillRect/>
          </a:stretch>
        </p:blipFill>
        <p:spPr>
          <a:xfrm>
            <a:off x="5858475" y="1853850"/>
            <a:ext cx="1828800" cy="2971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Arhitectură backend</a:t>
            </a:r>
            <a:r>
              <a:rPr lang="ro"/>
              <a:t>- arhitectură pe straturi</a:t>
            </a:r>
            <a:endParaRPr/>
          </a:p>
        </p:txBody>
      </p:sp>
      <p:pic>
        <p:nvPicPr>
          <p:cNvPr id="150" name="Google Shape;150;p28"/>
          <p:cNvPicPr preferRelativeResize="0"/>
          <p:nvPr/>
        </p:nvPicPr>
        <p:blipFill>
          <a:blip r:embed="rId3">
            <a:alphaModFix/>
          </a:blip>
          <a:stretch>
            <a:fillRect/>
          </a:stretch>
        </p:blipFill>
        <p:spPr>
          <a:xfrm>
            <a:off x="729450" y="2028425"/>
            <a:ext cx="7467600" cy="287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Arhitectură backend</a:t>
            </a:r>
            <a:endParaRPr/>
          </a:p>
        </p:txBody>
      </p:sp>
      <p:sp>
        <p:nvSpPr>
          <p:cNvPr id="156" name="Google Shape;156;p29"/>
          <p:cNvSpPr txBox="1"/>
          <p:nvPr/>
        </p:nvSpPr>
        <p:spPr>
          <a:xfrm>
            <a:off x="506325" y="1912750"/>
            <a:ext cx="8406300" cy="30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o">
                <a:latin typeface="Verdana"/>
                <a:ea typeface="Verdana"/>
                <a:cs typeface="Verdana"/>
                <a:sym typeface="Verdana"/>
              </a:rPr>
              <a:t>Motivare</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avantaje</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dezavantaje</a:t>
            </a:r>
            <a:endParaRPr>
              <a:latin typeface="Verdana"/>
              <a:ea typeface="Verdana"/>
              <a:cs typeface="Verdana"/>
              <a:sym typeface="Verdana"/>
            </a:endParaRPr>
          </a:p>
          <a:p>
            <a:pPr indent="0" lvl="0" marL="0" rtl="0" algn="l">
              <a:spcBef>
                <a:spcPts val="0"/>
              </a:spcBef>
              <a:spcAft>
                <a:spcPts val="0"/>
              </a:spcAft>
              <a:buNone/>
            </a:pPr>
            <a:r>
              <a:t/>
            </a:r>
            <a:endParaRPr>
              <a:latin typeface="Verdana"/>
              <a:ea typeface="Verdana"/>
              <a:cs typeface="Verdana"/>
              <a:sym typeface="Verdana"/>
            </a:endParaRPr>
          </a:p>
          <a:p>
            <a:pPr indent="0" lvl="0" marL="0" rtl="0" algn="l">
              <a:spcBef>
                <a:spcPts val="0"/>
              </a:spcBef>
              <a:spcAft>
                <a:spcPts val="0"/>
              </a:spcAft>
              <a:buNone/>
            </a:pPr>
            <a:r>
              <a:rPr lang="ro">
                <a:latin typeface="Verdana"/>
                <a:ea typeface="Verdana"/>
                <a:cs typeface="Verdana"/>
                <a:sym typeface="Verdana"/>
              </a:rPr>
              <a:t>Comparație</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event-driven</a:t>
            </a:r>
            <a:endParaRPr>
              <a:latin typeface="Verdana"/>
              <a:ea typeface="Verdana"/>
              <a:cs typeface="Verdana"/>
              <a:sym typeface="Verdana"/>
            </a:endParaRPr>
          </a:p>
          <a:p>
            <a:pPr indent="-317500" lvl="0" marL="457200" rtl="0" algn="l">
              <a:spcBef>
                <a:spcPts val="0"/>
              </a:spcBef>
              <a:spcAft>
                <a:spcPts val="0"/>
              </a:spcAft>
              <a:buSzPts val="1400"/>
              <a:buFont typeface="Verdana"/>
              <a:buChar char="-"/>
            </a:pPr>
            <a:r>
              <a:rPr lang="ro">
                <a:latin typeface="Verdana"/>
                <a:ea typeface="Verdana"/>
                <a:cs typeface="Verdana"/>
                <a:sym typeface="Verdana"/>
              </a:rPr>
              <a:t>microservicii</a:t>
            </a:r>
            <a:endParaRPr>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Frontend Architecture - MVVM</a:t>
            </a:r>
            <a:endParaRPr/>
          </a:p>
        </p:txBody>
      </p:sp>
      <p:pic>
        <p:nvPicPr>
          <p:cNvPr id="162" name="Google Shape;162;p30"/>
          <p:cNvPicPr preferRelativeResize="0"/>
          <p:nvPr/>
        </p:nvPicPr>
        <p:blipFill>
          <a:blip r:embed="rId3">
            <a:alphaModFix/>
          </a:blip>
          <a:stretch>
            <a:fillRect/>
          </a:stretch>
        </p:blipFill>
        <p:spPr>
          <a:xfrm>
            <a:off x="1490950" y="1931875"/>
            <a:ext cx="5544559" cy="298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IA - Modulul de recomandare</a:t>
            </a:r>
            <a:endParaRPr/>
          </a:p>
        </p:txBody>
      </p:sp>
      <p:sp>
        <p:nvSpPr>
          <p:cNvPr id="168" name="Google Shape;168;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Verdana"/>
              <a:buAutoNum type="arabicPeriod"/>
            </a:pPr>
            <a:r>
              <a:rPr lang="ro">
                <a:latin typeface="Verdana"/>
                <a:ea typeface="Verdana"/>
                <a:cs typeface="Verdana"/>
                <a:sym typeface="Verdana"/>
              </a:rPr>
              <a:t>Recomandare pe baza conținutului</a:t>
            </a:r>
            <a:endParaRPr>
              <a:latin typeface="Verdana"/>
              <a:ea typeface="Verdana"/>
              <a:cs typeface="Verdana"/>
              <a:sym typeface="Verdana"/>
            </a:endParaRPr>
          </a:p>
          <a:p>
            <a:pPr indent="-298450" lvl="1" marL="914400" rtl="0" algn="l">
              <a:spcBef>
                <a:spcPts val="0"/>
              </a:spcBef>
              <a:spcAft>
                <a:spcPts val="0"/>
              </a:spcAft>
              <a:buSzPts val="1100"/>
              <a:buFont typeface="Verdana"/>
              <a:buAutoNum type="alphaLcPeriod"/>
            </a:pPr>
            <a:r>
              <a:rPr lang="ro">
                <a:latin typeface="Verdana"/>
                <a:ea typeface="Verdana"/>
                <a:cs typeface="Verdana"/>
                <a:sym typeface="Verdana"/>
              </a:rPr>
              <a:t>Se axează pe proprietățile produsului</a:t>
            </a:r>
            <a:endParaRPr>
              <a:latin typeface="Verdana"/>
              <a:ea typeface="Verdana"/>
              <a:cs typeface="Verdana"/>
              <a:sym typeface="Verdana"/>
            </a:endParaRPr>
          </a:p>
          <a:p>
            <a:pPr indent="-298450" lvl="1" marL="914400" rtl="0" algn="l">
              <a:spcBef>
                <a:spcPts val="0"/>
              </a:spcBef>
              <a:spcAft>
                <a:spcPts val="0"/>
              </a:spcAft>
              <a:buSzPts val="1100"/>
              <a:buFont typeface="Verdana"/>
              <a:buAutoNum type="alphaLcPeriod"/>
            </a:pPr>
            <a:r>
              <a:rPr lang="ro">
                <a:latin typeface="Verdana"/>
                <a:ea typeface="Verdana"/>
                <a:cs typeface="Verdana"/>
                <a:sym typeface="Verdana"/>
              </a:rPr>
              <a:t>Independent of other users</a:t>
            </a:r>
            <a:endParaRPr>
              <a:latin typeface="Verdana"/>
              <a:ea typeface="Verdana"/>
              <a:cs typeface="Verdana"/>
              <a:sym typeface="Verdana"/>
            </a:endParaRPr>
          </a:p>
          <a:p>
            <a:pPr indent="-298450" lvl="1" marL="914400" rtl="0" algn="l">
              <a:spcBef>
                <a:spcPts val="0"/>
              </a:spcBef>
              <a:spcAft>
                <a:spcPts val="0"/>
              </a:spcAft>
              <a:buSzPts val="1100"/>
              <a:buFont typeface="Verdana"/>
              <a:buAutoNum type="alphaLcPeriod"/>
            </a:pPr>
            <a:r>
              <a:rPr lang="ro">
                <a:latin typeface="Verdana"/>
                <a:ea typeface="Verdana"/>
                <a:cs typeface="Verdana"/>
                <a:sym typeface="Verdana"/>
              </a:rPr>
              <a:t>Amazon, Emag, Alibaba...</a:t>
            </a:r>
            <a:endParaRPr>
              <a:latin typeface="Verdana"/>
              <a:ea typeface="Verdana"/>
              <a:cs typeface="Verdana"/>
              <a:sym typeface="Verdana"/>
            </a:endParaRPr>
          </a:p>
          <a:p>
            <a:pPr indent="-311150" lvl="0" marL="457200" rtl="0" algn="l">
              <a:spcBef>
                <a:spcPts val="0"/>
              </a:spcBef>
              <a:spcAft>
                <a:spcPts val="0"/>
              </a:spcAft>
              <a:buSzPts val="1300"/>
              <a:buFont typeface="Verdana"/>
              <a:buAutoNum type="arabicPeriod"/>
            </a:pPr>
            <a:r>
              <a:rPr lang="ro">
                <a:latin typeface="Verdana"/>
                <a:ea typeface="Verdana"/>
                <a:cs typeface="Verdana"/>
                <a:sym typeface="Verdana"/>
              </a:rPr>
              <a:t>Filtrare colaborativă</a:t>
            </a:r>
            <a:endParaRPr>
              <a:latin typeface="Verdana"/>
              <a:ea typeface="Verdana"/>
              <a:cs typeface="Verdana"/>
              <a:sym typeface="Verdana"/>
            </a:endParaRPr>
          </a:p>
          <a:p>
            <a:pPr indent="-298450" lvl="1" marL="914400" rtl="0" algn="l">
              <a:spcBef>
                <a:spcPts val="0"/>
              </a:spcBef>
              <a:spcAft>
                <a:spcPts val="0"/>
              </a:spcAft>
              <a:buSzPts val="1100"/>
              <a:buFont typeface="Verdana"/>
              <a:buAutoNum type="alphaLcPeriod"/>
            </a:pPr>
            <a:r>
              <a:rPr lang="ro">
                <a:latin typeface="Verdana"/>
                <a:ea typeface="Verdana"/>
                <a:cs typeface="Verdana"/>
                <a:sym typeface="Verdana"/>
              </a:rPr>
              <a:t>Se focusează pe plăcerile unui grup mai mare de persoane</a:t>
            </a:r>
            <a:endParaRPr>
              <a:latin typeface="Verdana"/>
              <a:ea typeface="Verdana"/>
              <a:cs typeface="Verdana"/>
              <a:sym typeface="Verdana"/>
            </a:endParaRPr>
          </a:p>
          <a:p>
            <a:pPr indent="-298450" lvl="1" marL="914400" rtl="0" algn="l">
              <a:spcBef>
                <a:spcPts val="0"/>
              </a:spcBef>
              <a:spcAft>
                <a:spcPts val="0"/>
              </a:spcAft>
              <a:buSzPts val="1100"/>
              <a:buFont typeface="Verdana"/>
              <a:buAutoNum type="alphaLcPeriod"/>
            </a:pPr>
            <a:r>
              <a:rPr lang="ro">
                <a:latin typeface="Verdana"/>
                <a:ea typeface="Verdana"/>
                <a:cs typeface="Verdana"/>
                <a:sym typeface="Verdana"/>
              </a:rPr>
              <a:t>Are nevoie de date inițiale</a:t>
            </a:r>
            <a:endParaRPr>
              <a:latin typeface="Verdana"/>
              <a:ea typeface="Verdana"/>
              <a:cs typeface="Verdana"/>
              <a:sym typeface="Verdana"/>
            </a:endParaRPr>
          </a:p>
          <a:p>
            <a:pPr indent="-298450" lvl="1" marL="914400" rtl="0" algn="l">
              <a:spcBef>
                <a:spcPts val="0"/>
              </a:spcBef>
              <a:spcAft>
                <a:spcPts val="0"/>
              </a:spcAft>
              <a:buSzPts val="1100"/>
              <a:buFont typeface="Verdana"/>
              <a:buAutoNum type="alphaLcPeriod"/>
            </a:pPr>
            <a:r>
              <a:rPr lang="ro">
                <a:latin typeface="Verdana"/>
                <a:ea typeface="Verdana"/>
                <a:cs typeface="Verdana"/>
                <a:sym typeface="Verdana"/>
              </a:rPr>
              <a:t>Facebook, Twitter </a:t>
            </a:r>
            <a:endParaRPr>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729450" y="1318650"/>
            <a:ext cx="8000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IA - Recomandare bazată pe conținutul filmelor?</a:t>
            </a:r>
            <a:endParaRPr/>
          </a:p>
        </p:txBody>
      </p:sp>
      <p:sp>
        <p:nvSpPr>
          <p:cNvPr id="174" name="Google Shape;174;p32"/>
          <p:cNvSpPr txBox="1"/>
          <p:nvPr>
            <p:ph idx="1" type="body"/>
          </p:nvPr>
        </p:nvSpPr>
        <p:spPr>
          <a:xfrm>
            <a:off x="819875" y="1989100"/>
            <a:ext cx="7688700" cy="2551800"/>
          </a:xfrm>
          <a:prstGeom prst="rect">
            <a:avLst/>
          </a:prstGeom>
        </p:spPr>
        <p:txBody>
          <a:bodyPr anchorCtr="0" anchor="t" bIns="91425" lIns="91425" spcFirstLastPara="1" rIns="91425" wrap="square" tIns="91425">
            <a:noAutofit/>
          </a:bodyPr>
          <a:lstStyle/>
          <a:p>
            <a:pPr indent="-311150" lvl="0" marL="457200" marR="0" rtl="0" algn="l">
              <a:lnSpc>
                <a:spcPct val="115000"/>
              </a:lnSpc>
              <a:spcBef>
                <a:spcPts val="0"/>
              </a:spcBef>
              <a:spcAft>
                <a:spcPts val="0"/>
              </a:spcAft>
              <a:buSzPts val="1300"/>
              <a:buFont typeface="Verdana"/>
              <a:buAutoNum type="arabicPeriod"/>
            </a:pPr>
            <a:r>
              <a:rPr lang="ro">
                <a:latin typeface="Verdana"/>
                <a:ea typeface="Verdana"/>
                <a:cs typeface="Verdana"/>
                <a:sym typeface="Verdana"/>
              </a:rPr>
              <a:t>Cum măsurăm similaritatea? Similaritatea cosinus?</a:t>
            </a:r>
            <a:endParaRPr>
              <a:latin typeface="Verdana"/>
              <a:ea typeface="Verdana"/>
              <a:cs typeface="Verdana"/>
              <a:sym typeface="Verdana"/>
            </a:endParaRPr>
          </a:p>
          <a:p>
            <a:pPr indent="-311150" lvl="0" marL="457200" marR="0" rtl="0" algn="l">
              <a:lnSpc>
                <a:spcPct val="115000"/>
              </a:lnSpc>
              <a:spcBef>
                <a:spcPts val="0"/>
              </a:spcBef>
              <a:spcAft>
                <a:spcPts val="0"/>
              </a:spcAft>
              <a:buClr>
                <a:schemeClr val="accent1"/>
              </a:buClr>
              <a:buSzPts val="1300"/>
              <a:buFont typeface="Verdana"/>
              <a:buAutoNum type="arabicPeriod"/>
            </a:pPr>
            <a:r>
              <a:rPr lang="ro">
                <a:latin typeface="Verdana"/>
                <a:ea typeface="Verdana"/>
                <a:cs typeface="Verdana"/>
                <a:sym typeface="Verdana"/>
              </a:rPr>
              <a:t>Curățarea datelor: titlu, actori, regizori, plot.</a:t>
            </a:r>
            <a:endParaRPr b="1">
              <a:latin typeface="Verdana"/>
              <a:ea typeface="Verdana"/>
              <a:cs typeface="Verdana"/>
              <a:sym typeface="Verdana"/>
            </a:endParaRPr>
          </a:p>
          <a:p>
            <a:pPr indent="-311150" lvl="0" marL="457200" marR="0" rtl="0" algn="l">
              <a:lnSpc>
                <a:spcPct val="115000"/>
              </a:lnSpc>
              <a:spcBef>
                <a:spcPts val="0"/>
              </a:spcBef>
              <a:spcAft>
                <a:spcPts val="0"/>
              </a:spcAft>
              <a:buSzPts val="1300"/>
              <a:buFont typeface="Verdana"/>
              <a:buAutoNum type="arabicPeriod"/>
            </a:pPr>
            <a:r>
              <a:rPr lang="ro">
                <a:latin typeface="Verdana"/>
                <a:ea typeface="Verdana"/>
                <a:cs typeface="Verdana"/>
                <a:sym typeface="Verdana"/>
              </a:rPr>
              <a:t>Aplicarea formulei pentru oricare două filme</a:t>
            </a:r>
            <a:endParaRPr>
              <a:latin typeface="Verdana"/>
              <a:ea typeface="Verdana"/>
              <a:cs typeface="Verdana"/>
              <a:sym typeface="Verdana"/>
            </a:endParaRPr>
          </a:p>
          <a:p>
            <a:pPr indent="-311150" lvl="0" marL="457200" marR="0" rtl="0" algn="l">
              <a:lnSpc>
                <a:spcPct val="115000"/>
              </a:lnSpc>
              <a:spcBef>
                <a:spcPts val="0"/>
              </a:spcBef>
              <a:spcAft>
                <a:spcPts val="0"/>
              </a:spcAft>
              <a:buSzPts val="1300"/>
              <a:buFont typeface="Verdana"/>
              <a:buAutoNum type="arabicPeriod"/>
            </a:pPr>
            <a:r>
              <a:rPr lang="ro">
                <a:latin typeface="Verdana"/>
                <a:ea typeface="Verdana"/>
                <a:cs typeface="Verdana"/>
                <a:sym typeface="Verdana"/>
              </a:rPr>
              <a:t>Scalare? Adăugarea unui film nou determină calculul similarității pentru el</a:t>
            </a:r>
            <a:endParaRPr>
              <a:latin typeface="Verdana"/>
              <a:ea typeface="Verdana"/>
              <a:cs typeface="Verdana"/>
              <a:sym typeface="Verdana"/>
            </a:endParaRPr>
          </a:p>
          <a:p>
            <a:pPr indent="0" lvl="0" marL="457200" marR="0" rtl="0" algn="l">
              <a:lnSpc>
                <a:spcPct val="115000"/>
              </a:lnSpc>
              <a:spcBef>
                <a:spcPts val="1600"/>
              </a:spcBef>
              <a:spcAft>
                <a:spcPts val="0"/>
              </a:spcAft>
              <a:buNone/>
            </a:pPr>
            <a:r>
              <a:t/>
            </a:r>
            <a:endParaRPr/>
          </a:p>
          <a:p>
            <a:pPr indent="0" lvl="0" marL="914400" marR="0" rtl="0" algn="l">
              <a:lnSpc>
                <a:spcPct val="115000"/>
              </a:lnSpc>
              <a:spcBef>
                <a:spcPts val="1600"/>
              </a:spcBef>
              <a:spcAft>
                <a:spcPts val="1600"/>
              </a:spcAft>
              <a:buNone/>
            </a:pPr>
            <a:r>
              <a:t/>
            </a:r>
            <a:endParaRPr/>
          </a:p>
        </p:txBody>
      </p:sp>
      <p:pic>
        <p:nvPicPr>
          <p:cNvPr id="175" name="Google Shape;175;p32"/>
          <p:cNvPicPr preferRelativeResize="0"/>
          <p:nvPr/>
        </p:nvPicPr>
        <p:blipFill>
          <a:blip r:embed="rId3">
            <a:alphaModFix/>
          </a:blip>
          <a:stretch>
            <a:fillRect/>
          </a:stretch>
        </p:blipFill>
        <p:spPr>
          <a:xfrm>
            <a:off x="1445450" y="3414750"/>
            <a:ext cx="5646926" cy="1290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Exemplu de calculare al similarității</a:t>
            </a:r>
            <a:endParaRPr/>
          </a:p>
        </p:txBody>
      </p:sp>
      <p:sp>
        <p:nvSpPr>
          <p:cNvPr id="181" name="Google Shape;181;p33"/>
          <p:cNvSpPr txBox="1"/>
          <p:nvPr>
            <p:ph idx="1" type="body"/>
          </p:nvPr>
        </p:nvSpPr>
        <p:spPr>
          <a:xfrm>
            <a:off x="729450" y="2078875"/>
            <a:ext cx="7688700" cy="285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FilmA</a:t>
            </a:r>
            <a:r>
              <a:rPr lang="ro"/>
              <a:t>: avengers </a:t>
            </a:r>
            <a:r>
              <a:rPr lang="ro">
                <a:solidFill>
                  <a:srgbClr val="000000"/>
                </a:solidFill>
              </a:rPr>
              <a:t>robertdawneyjunior </a:t>
            </a:r>
            <a:r>
              <a:rPr lang="ro"/>
              <a:t>guns armor iron</a:t>
            </a:r>
            <a:endParaRPr/>
          </a:p>
          <a:p>
            <a:pPr indent="0" lvl="0" marL="0" rtl="0" algn="l">
              <a:spcBef>
                <a:spcPts val="1600"/>
              </a:spcBef>
              <a:spcAft>
                <a:spcPts val="0"/>
              </a:spcAft>
              <a:buNone/>
            </a:pPr>
            <a:r>
              <a:rPr lang="ro"/>
              <a:t>FilmB: iron man </a:t>
            </a:r>
            <a:r>
              <a:rPr lang="ro">
                <a:solidFill>
                  <a:srgbClr val="000000"/>
                </a:solidFill>
              </a:rPr>
              <a:t>robertdawneyjunior </a:t>
            </a:r>
            <a:r>
              <a:rPr lang="ro"/>
              <a:t>pepper superpower iron armor</a:t>
            </a:r>
            <a:endParaRPr/>
          </a:p>
          <a:p>
            <a:pPr indent="0" lvl="0" marL="0" rtl="0" algn="l">
              <a:spcBef>
                <a:spcPts val="1600"/>
              </a:spcBef>
              <a:spcAft>
                <a:spcPts val="0"/>
              </a:spcAft>
              <a:buNone/>
            </a:pPr>
            <a:r>
              <a:rPr lang="ro"/>
              <a:t>Cuvinte unice: avengers robertdawneyjunior guns armor iron man pepper superpower</a:t>
            </a:r>
            <a:endParaRPr/>
          </a:p>
          <a:p>
            <a:pPr indent="0" lvl="0" marL="0" rtl="0" algn="l">
              <a:spcBef>
                <a:spcPts val="1600"/>
              </a:spcBef>
              <a:spcAft>
                <a:spcPts val="0"/>
              </a:spcAft>
              <a:buNone/>
            </a:pPr>
            <a:r>
              <a:rPr lang="ro"/>
              <a:t>Frecvență în a: 1 1 1 1 1 0 0 0</a:t>
            </a:r>
            <a:endParaRPr/>
          </a:p>
          <a:p>
            <a:pPr indent="0" lvl="0" marL="0" rtl="0" algn="l">
              <a:spcBef>
                <a:spcPts val="1600"/>
              </a:spcBef>
              <a:spcAft>
                <a:spcPts val="0"/>
              </a:spcAft>
              <a:buNone/>
            </a:pPr>
            <a:r>
              <a:rPr lang="ro"/>
              <a:t>Frecvență în b: 0 1 0 1 2 1 1 1</a:t>
            </a:r>
            <a:endParaRPr/>
          </a:p>
          <a:p>
            <a:pPr indent="0" lvl="0" marL="0" rtl="0" algn="l">
              <a:spcBef>
                <a:spcPts val="1600"/>
              </a:spcBef>
              <a:spcAft>
                <a:spcPts val="1600"/>
              </a:spcAft>
              <a:buNone/>
            </a:pPr>
            <a:r>
              <a:rPr lang="ro"/>
              <a:t>Rezultat: 4 / sqrt(5) * sqrt(9) = 0.59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729450" y="1318650"/>
            <a:ext cx="8000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IA - Cum funcționează în aplicație?</a:t>
            </a:r>
            <a:endParaRPr/>
          </a:p>
        </p:txBody>
      </p:sp>
      <p:sp>
        <p:nvSpPr>
          <p:cNvPr id="187" name="Google Shape;187;p34"/>
          <p:cNvSpPr txBox="1"/>
          <p:nvPr>
            <p:ph idx="1" type="body"/>
          </p:nvPr>
        </p:nvSpPr>
        <p:spPr>
          <a:xfrm>
            <a:off x="819875" y="1989100"/>
            <a:ext cx="7688700" cy="2551800"/>
          </a:xfrm>
          <a:prstGeom prst="rect">
            <a:avLst/>
          </a:prstGeom>
        </p:spPr>
        <p:txBody>
          <a:bodyPr anchorCtr="0" anchor="t" bIns="91425" lIns="91425" spcFirstLastPara="1" rIns="91425" wrap="square" tIns="91425">
            <a:noAutofit/>
          </a:bodyPr>
          <a:lstStyle/>
          <a:p>
            <a:pPr indent="-311150" lvl="0" marL="457200" marR="0" rtl="0" algn="l">
              <a:lnSpc>
                <a:spcPct val="115000"/>
              </a:lnSpc>
              <a:spcBef>
                <a:spcPts val="0"/>
              </a:spcBef>
              <a:spcAft>
                <a:spcPts val="0"/>
              </a:spcAft>
              <a:buSzPts val="1300"/>
              <a:buAutoNum type="arabicPeriod"/>
            </a:pPr>
            <a:r>
              <a:rPr lang="ro"/>
              <a:t>Case when use is not logged</a:t>
            </a:r>
            <a:endParaRPr/>
          </a:p>
          <a:p>
            <a:pPr indent="-311150" lvl="0" marL="457200" marR="0" rtl="0" algn="l">
              <a:lnSpc>
                <a:spcPct val="115000"/>
              </a:lnSpc>
              <a:spcBef>
                <a:spcPts val="0"/>
              </a:spcBef>
              <a:spcAft>
                <a:spcPts val="0"/>
              </a:spcAft>
              <a:buSzPts val="1300"/>
              <a:buAutoNum type="arabicPeriod"/>
            </a:pPr>
            <a:r>
              <a:rPr lang="ro"/>
              <a:t>Case when user is logged</a:t>
            </a:r>
            <a:endParaRPr/>
          </a:p>
          <a:p>
            <a:pPr indent="0" lvl="0" marL="0" marR="0" rtl="0" algn="l">
              <a:lnSpc>
                <a:spcPct val="115000"/>
              </a:lnSpc>
              <a:spcBef>
                <a:spcPts val="1600"/>
              </a:spcBef>
              <a:spcAft>
                <a:spcPts val="0"/>
              </a:spcAft>
              <a:buNone/>
            </a:pPr>
            <a:r>
              <a:t/>
            </a:r>
            <a:endParaRPr/>
          </a:p>
          <a:p>
            <a:pPr indent="0" lvl="0" marL="457200" marR="0" rtl="0" algn="l">
              <a:lnSpc>
                <a:spcPct val="115000"/>
              </a:lnSpc>
              <a:spcBef>
                <a:spcPts val="1600"/>
              </a:spcBef>
              <a:spcAft>
                <a:spcPts val="0"/>
              </a:spcAft>
              <a:buNone/>
            </a:pPr>
            <a:r>
              <a:t/>
            </a:r>
            <a:endParaRPr/>
          </a:p>
          <a:p>
            <a:pPr indent="0" lvl="0" marL="914400" marR="0" rtl="0" algn="l">
              <a:lnSpc>
                <a:spcPct val="115000"/>
              </a:lnSpc>
              <a:spcBef>
                <a:spcPts val="1600"/>
              </a:spcBef>
              <a:spcAft>
                <a:spcPts val="1600"/>
              </a:spcAft>
              <a:buNone/>
            </a:pPr>
            <a:r>
              <a:t/>
            </a:r>
            <a:endParaRPr/>
          </a:p>
        </p:txBody>
      </p:sp>
      <p:pic>
        <p:nvPicPr>
          <p:cNvPr id="188" name="Google Shape;188;p34"/>
          <p:cNvPicPr preferRelativeResize="0"/>
          <p:nvPr/>
        </p:nvPicPr>
        <p:blipFill>
          <a:blip r:embed="rId3">
            <a:alphaModFix/>
          </a:blip>
          <a:stretch>
            <a:fillRect/>
          </a:stretch>
        </p:blipFill>
        <p:spPr>
          <a:xfrm>
            <a:off x="1989100" y="2627250"/>
            <a:ext cx="4663525" cy="22899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Testare automată</a:t>
            </a:r>
            <a:endParaRPr/>
          </a:p>
        </p:txBody>
      </p:sp>
      <p:sp>
        <p:nvSpPr>
          <p:cNvPr id="194" name="Google Shape;194;p35"/>
          <p:cNvSpPr txBox="1"/>
          <p:nvPr>
            <p:ph idx="1" type="body"/>
          </p:nvPr>
        </p:nvSpPr>
        <p:spPr>
          <a:xfrm>
            <a:off x="686250" y="2068625"/>
            <a:ext cx="2639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800">
                <a:latin typeface="Verdana"/>
                <a:ea typeface="Verdana"/>
                <a:cs typeface="Verdana"/>
                <a:sym typeface="Verdana"/>
              </a:rPr>
              <a:t>Testare unitară</a:t>
            </a:r>
            <a:endParaRPr sz="1800">
              <a:latin typeface="Verdana"/>
              <a:ea typeface="Verdana"/>
              <a:cs typeface="Verdana"/>
              <a:sym typeface="Verdana"/>
            </a:endParaRPr>
          </a:p>
          <a:p>
            <a:pPr indent="-317500" lvl="0" marL="457200" rtl="0" algn="l">
              <a:spcBef>
                <a:spcPts val="1600"/>
              </a:spcBef>
              <a:spcAft>
                <a:spcPts val="0"/>
              </a:spcAft>
              <a:buSzPts val="1400"/>
              <a:buFont typeface="Verdana"/>
              <a:buAutoNum type="arabicPeriod"/>
            </a:pPr>
            <a:r>
              <a:rPr lang="ro" sz="1400">
                <a:latin typeface="Verdana"/>
                <a:ea typeface="Verdana"/>
                <a:cs typeface="Verdana"/>
                <a:sym typeface="Verdana"/>
              </a:rPr>
              <a:t>Pregătirea datelor</a:t>
            </a:r>
            <a:endParaRPr sz="1400">
              <a:latin typeface="Verdana"/>
              <a:ea typeface="Verdana"/>
              <a:cs typeface="Verdana"/>
              <a:sym typeface="Verdana"/>
            </a:endParaRPr>
          </a:p>
          <a:p>
            <a:pPr indent="-317500" lvl="0" marL="457200" rtl="0" algn="l">
              <a:spcBef>
                <a:spcPts val="0"/>
              </a:spcBef>
              <a:spcAft>
                <a:spcPts val="0"/>
              </a:spcAft>
              <a:buClr>
                <a:srgbClr val="545454"/>
              </a:buClr>
              <a:buSzPts val="1400"/>
              <a:buFont typeface="Verdana"/>
              <a:buAutoNum type="arabicPeriod"/>
            </a:pPr>
            <a:r>
              <a:rPr lang="ro" sz="1400">
                <a:solidFill>
                  <a:srgbClr val="545454"/>
                </a:solidFill>
                <a:highlight>
                  <a:srgbClr val="FFFFFF"/>
                </a:highlight>
                <a:latin typeface="Verdana"/>
                <a:ea typeface="Verdana"/>
                <a:cs typeface="Verdana"/>
                <a:sym typeface="Verdana"/>
              </a:rPr>
              <a:t>Execuția funcționalității testate</a:t>
            </a:r>
            <a:endParaRPr sz="1400">
              <a:solidFill>
                <a:srgbClr val="545454"/>
              </a:solidFill>
              <a:highlight>
                <a:srgbClr val="FFFFFF"/>
              </a:highlight>
              <a:latin typeface="Verdana"/>
              <a:ea typeface="Verdana"/>
              <a:cs typeface="Verdana"/>
              <a:sym typeface="Verdana"/>
            </a:endParaRPr>
          </a:p>
          <a:p>
            <a:pPr indent="-317500" lvl="0" marL="457200" rtl="0" algn="l">
              <a:spcBef>
                <a:spcPts val="0"/>
              </a:spcBef>
              <a:spcAft>
                <a:spcPts val="0"/>
              </a:spcAft>
              <a:buClr>
                <a:srgbClr val="545454"/>
              </a:buClr>
              <a:buSzPts val="1400"/>
              <a:buFont typeface="Verdana"/>
              <a:buAutoNum type="arabicPeriod"/>
            </a:pPr>
            <a:r>
              <a:rPr lang="ro" sz="1400">
                <a:solidFill>
                  <a:srgbClr val="545454"/>
                </a:solidFill>
                <a:highlight>
                  <a:srgbClr val="FFFFFF"/>
                </a:highlight>
                <a:latin typeface="Verdana"/>
                <a:ea typeface="Verdana"/>
                <a:cs typeface="Verdana"/>
                <a:sym typeface="Verdana"/>
              </a:rPr>
              <a:t>Analizarea rezultatelor</a:t>
            </a:r>
            <a:endParaRPr sz="1400">
              <a:solidFill>
                <a:srgbClr val="545454"/>
              </a:solidFill>
              <a:highlight>
                <a:srgbClr val="FFFFFF"/>
              </a:highlight>
              <a:latin typeface="Verdana"/>
              <a:ea typeface="Verdana"/>
              <a:cs typeface="Verdana"/>
              <a:sym typeface="Verdana"/>
            </a:endParaRPr>
          </a:p>
          <a:p>
            <a:pPr indent="0" lvl="0" marL="0" rtl="0" algn="l">
              <a:spcBef>
                <a:spcPts val="1600"/>
              </a:spcBef>
              <a:spcAft>
                <a:spcPts val="0"/>
              </a:spcAft>
              <a:buNone/>
            </a:pPr>
            <a:r>
              <a:t/>
            </a:r>
            <a:endParaRPr sz="1400">
              <a:latin typeface="Verdana"/>
              <a:ea typeface="Verdana"/>
              <a:cs typeface="Verdana"/>
              <a:sym typeface="Verdana"/>
            </a:endParaRPr>
          </a:p>
          <a:p>
            <a:pPr indent="0" lvl="0" marL="0" rtl="0" algn="l">
              <a:spcBef>
                <a:spcPts val="1600"/>
              </a:spcBef>
              <a:spcAft>
                <a:spcPts val="0"/>
              </a:spcAft>
              <a:buNone/>
            </a:pPr>
            <a:r>
              <a:t/>
            </a:r>
            <a:endParaRPr sz="1800">
              <a:latin typeface="Verdana"/>
              <a:ea typeface="Verdana"/>
              <a:cs typeface="Verdana"/>
              <a:sym typeface="Verdana"/>
            </a:endParaRPr>
          </a:p>
          <a:p>
            <a:pPr indent="0" lvl="0" marL="0" rtl="0" algn="l">
              <a:spcBef>
                <a:spcPts val="1600"/>
              </a:spcBef>
              <a:spcAft>
                <a:spcPts val="1600"/>
              </a:spcAft>
              <a:buNone/>
            </a:pPr>
            <a:r>
              <a:t/>
            </a:r>
            <a:endParaRPr sz="1800">
              <a:latin typeface="Verdana"/>
              <a:ea typeface="Verdana"/>
              <a:cs typeface="Verdana"/>
              <a:sym typeface="Verdana"/>
            </a:endParaRPr>
          </a:p>
        </p:txBody>
      </p:sp>
      <p:pic>
        <p:nvPicPr>
          <p:cNvPr id="195" name="Google Shape;195;p35"/>
          <p:cNvPicPr preferRelativeResize="0"/>
          <p:nvPr/>
        </p:nvPicPr>
        <p:blipFill>
          <a:blip r:embed="rId3">
            <a:alphaModFix/>
          </a:blip>
          <a:stretch>
            <a:fillRect/>
          </a:stretch>
        </p:blipFill>
        <p:spPr>
          <a:xfrm>
            <a:off x="3429000" y="2007025"/>
            <a:ext cx="5112700" cy="271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ro" sz="1800">
                <a:solidFill>
                  <a:schemeClr val="accent1"/>
                </a:solidFill>
              </a:rPr>
              <a:t>Testare de performanță</a:t>
            </a:r>
            <a:endParaRPr/>
          </a:p>
        </p:txBody>
      </p:sp>
      <p:sp>
        <p:nvSpPr>
          <p:cNvPr id="201" name="Google Shape;201;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2" name="Google Shape;202;p36"/>
          <p:cNvPicPr preferRelativeResize="0"/>
          <p:nvPr/>
        </p:nvPicPr>
        <p:blipFill>
          <a:blip r:embed="rId3">
            <a:alphaModFix/>
          </a:blip>
          <a:stretch>
            <a:fillRect/>
          </a:stretch>
        </p:blipFill>
        <p:spPr>
          <a:xfrm>
            <a:off x="846100" y="1853850"/>
            <a:ext cx="6375501" cy="28660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9" name="Google Shape;209;p37"/>
          <p:cNvPicPr preferRelativeResize="0"/>
          <p:nvPr/>
        </p:nvPicPr>
        <p:blipFill>
          <a:blip r:embed="rId3">
            <a:alphaModFix/>
          </a:blip>
          <a:stretch>
            <a:fillRect/>
          </a:stretch>
        </p:blipFill>
        <p:spPr>
          <a:xfrm>
            <a:off x="0" y="84901"/>
            <a:ext cx="9144001" cy="4973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16" name="Google Shape;216;p38"/>
          <p:cNvPicPr preferRelativeResize="0"/>
          <p:nvPr/>
        </p:nvPicPr>
        <p:blipFill>
          <a:blip r:embed="rId3">
            <a:alphaModFix/>
          </a:blip>
          <a:stretch>
            <a:fillRect/>
          </a:stretch>
        </p:blipFill>
        <p:spPr>
          <a:xfrm>
            <a:off x="0" y="137798"/>
            <a:ext cx="9143999" cy="48679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23" name="Google Shape;223;p39"/>
          <p:cNvPicPr preferRelativeResize="0"/>
          <p:nvPr/>
        </p:nvPicPr>
        <p:blipFill>
          <a:blip r:embed="rId3">
            <a:alphaModFix/>
          </a:blip>
          <a:stretch>
            <a:fillRect/>
          </a:stretch>
        </p:blipFill>
        <p:spPr>
          <a:xfrm>
            <a:off x="0" y="143682"/>
            <a:ext cx="9143999" cy="48561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a:t>Bibliography</a:t>
            </a:r>
            <a:endParaRPr/>
          </a:p>
        </p:txBody>
      </p:sp>
      <p:sp>
        <p:nvSpPr>
          <p:cNvPr id="229" name="Google Shape;229;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SzPts val="1300"/>
              <a:buAutoNum type="arabicPeriod"/>
            </a:pPr>
            <a:r>
              <a:rPr lang="ro" sz="1100" u="sng">
                <a:solidFill>
                  <a:schemeClr val="accent5"/>
                </a:solidFill>
                <a:latin typeface="Arial"/>
                <a:ea typeface="Arial"/>
                <a:cs typeface="Arial"/>
                <a:sym typeface="Arial"/>
                <a:hlinkClick r:id="rId3"/>
              </a:rPr>
              <a:t>https://towardsdatascience.com/how-to-build-from-scratch-a-content-based-movie-recommender-with-natural-language-processing-25ad400eb243</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