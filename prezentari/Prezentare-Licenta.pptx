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  <Override PartName="/ppt/media/image6.jpeg" ContentType="image/jpeg"/>
  <Override PartName="/ppt/media/image7.jpeg" ContentType="image/jpeg"/>
  <Override PartName="/ppt/media/image8.jpeg" ContentType="image/jpeg"/>
  <Override PartName="/ppt/media/image9.jpeg" ContentType="image/jpeg"/>
  <Override PartName="/ppt/media/image10.jpeg" ContentType="image/jpeg"/>
  <Override PartName="/ppt/media/image11.jpeg" ContentType="image/jpeg"/>
  <Override PartName="/ppt/media/image12.jpeg" ContentType="image/jpeg"/>
  <Override PartName="/ppt/media/image13.jpeg" ContentType="image/jpeg"/>
  <Override PartName="/ppt/media/image14.jpeg" ContentType="image/jpeg"/>
  <Override PartName="/ppt/media/image15.jpeg" ContentType="image/jpeg"/>
  <Override PartName="/ppt/media/image16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 b="def" i="def"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7" name="Shape 117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1270000" y="1638300"/>
            <a:ext cx="10464800" cy="3302000"/>
          </a:xfrm>
          <a:prstGeom prst="rect">
            <a:avLst/>
          </a:prstGeom>
        </p:spPr>
        <p:txBody>
          <a:bodyPr anchor="b"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270000" y="50419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700"/>
            </a:lvl1pPr>
            <a:lvl2pPr marL="0" indent="0" algn="ctr">
              <a:spcBef>
                <a:spcPts val="0"/>
              </a:spcBef>
              <a:buSzTx/>
              <a:buNone/>
              <a:defRPr sz="3700"/>
            </a:lvl2pPr>
            <a:lvl3pPr marL="0" indent="0" algn="ctr">
              <a:spcBef>
                <a:spcPts val="0"/>
              </a:spcBef>
              <a:buSzTx/>
              <a:buNone/>
              <a:defRPr sz="3700"/>
            </a:lvl3pPr>
            <a:lvl4pPr marL="0" indent="0" algn="ctr">
              <a:spcBef>
                <a:spcPts val="0"/>
              </a:spcBef>
              <a:buSzTx/>
              <a:buNone/>
              <a:defRPr sz="3700"/>
            </a:lvl4pPr>
            <a:lvl5pPr marL="0" indent="0" algn="ctr">
              <a:spcBef>
                <a:spcPts val="0"/>
              </a:spcBef>
              <a:buSzTx/>
              <a:buNone/>
              <a:defRPr sz="37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Image"/>
          <p:cNvSpPr/>
          <p:nvPr>
            <p:ph type="pic" idx="13"/>
          </p:nvPr>
        </p:nvSpPr>
        <p:spPr>
          <a:xfrm>
            <a:off x="1625600" y="673100"/>
            <a:ext cx="9753600" cy="59055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21" name="Title Text"/>
          <p:cNvSpPr txBox="1"/>
          <p:nvPr>
            <p:ph type="title"/>
          </p:nvPr>
        </p:nvSpPr>
        <p:spPr>
          <a:xfrm>
            <a:off x="1270000" y="6718300"/>
            <a:ext cx="10464800" cy="1422400"/>
          </a:xfrm>
          <a:prstGeom prst="rect">
            <a:avLst/>
          </a:prstGeom>
        </p:spPr>
        <p:txBody>
          <a:bodyPr anchor="b"/>
          <a:lstStyle/>
          <a:p>
            <a:pPr/>
            <a:r>
              <a:t>Title Text</a:t>
            </a:r>
          </a:p>
        </p:txBody>
      </p:sp>
      <p:sp>
        <p:nvSpPr>
          <p:cNvPr id="22" name="Body Level One…"/>
          <p:cNvSpPr txBox="1"/>
          <p:nvPr>
            <p:ph type="body" sz="quarter" idx="1"/>
          </p:nvPr>
        </p:nvSpPr>
        <p:spPr>
          <a:xfrm>
            <a:off x="1270000" y="81534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700"/>
            </a:lvl1pPr>
            <a:lvl2pPr marL="0" indent="0" algn="ctr">
              <a:spcBef>
                <a:spcPts val="0"/>
              </a:spcBef>
              <a:buSzTx/>
              <a:buNone/>
              <a:defRPr sz="3700"/>
            </a:lvl2pPr>
            <a:lvl3pPr marL="0" indent="0" algn="ctr">
              <a:spcBef>
                <a:spcPts val="0"/>
              </a:spcBef>
              <a:buSzTx/>
              <a:buNone/>
              <a:defRPr sz="3700"/>
            </a:lvl3pPr>
            <a:lvl4pPr marL="0" indent="0" algn="ctr">
              <a:spcBef>
                <a:spcPts val="0"/>
              </a:spcBef>
              <a:buSzTx/>
              <a:buNone/>
              <a:defRPr sz="3700"/>
            </a:lvl4pPr>
            <a:lvl5pPr marL="0" indent="0" algn="ctr">
              <a:spcBef>
                <a:spcPts val="0"/>
              </a:spcBef>
              <a:buSzTx/>
              <a:buNone/>
              <a:defRPr sz="37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- Cen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/>
          <p:nvPr>
            <p:ph type="title"/>
          </p:nvPr>
        </p:nvSpPr>
        <p:spPr>
          <a:xfrm>
            <a:off x="1270000" y="3225800"/>
            <a:ext cx="10464800" cy="3302000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mage"/>
          <p:cNvSpPr/>
          <p:nvPr>
            <p:ph type="pic" sz="half" idx="13"/>
          </p:nvPr>
        </p:nvSpPr>
        <p:spPr>
          <a:xfrm>
            <a:off x="6718300" y="635000"/>
            <a:ext cx="5334000" cy="8216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39" name="Title Text"/>
          <p:cNvSpPr txBox="1"/>
          <p:nvPr>
            <p:ph type="title"/>
          </p:nvPr>
        </p:nvSpPr>
        <p:spPr>
          <a:xfrm>
            <a:off x="952500" y="635000"/>
            <a:ext cx="5334000" cy="3987800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40" name="Body Level One…"/>
          <p:cNvSpPr txBox="1"/>
          <p:nvPr>
            <p:ph type="body" sz="quarter" idx="1"/>
          </p:nvPr>
        </p:nvSpPr>
        <p:spPr>
          <a:xfrm>
            <a:off x="952500" y="4724400"/>
            <a:ext cx="5334000" cy="41148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700"/>
            </a:lvl1pPr>
            <a:lvl2pPr marL="0" indent="0" algn="ctr">
              <a:spcBef>
                <a:spcPts val="0"/>
              </a:spcBef>
              <a:buSzTx/>
              <a:buNone/>
              <a:defRPr sz="3700"/>
            </a:lvl2pPr>
            <a:lvl3pPr marL="0" indent="0" algn="ctr">
              <a:spcBef>
                <a:spcPts val="0"/>
              </a:spcBef>
              <a:buSzTx/>
              <a:buNone/>
              <a:defRPr sz="3700"/>
            </a:lvl3pPr>
            <a:lvl4pPr marL="0" indent="0" algn="ctr">
              <a:spcBef>
                <a:spcPts val="0"/>
              </a:spcBef>
              <a:buSzTx/>
              <a:buNone/>
              <a:defRPr sz="3700"/>
            </a:lvl4pPr>
            <a:lvl5pPr marL="0" indent="0" algn="ctr">
              <a:spcBef>
                <a:spcPts val="0"/>
              </a:spcBef>
              <a:buSzTx/>
              <a:buNone/>
              <a:defRPr sz="37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7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Image"/>
          <p:cNvSpPr/>
          <p:nvPr>
            <p:ph type="pic" sz="half" idx="13"/>
          </p:nvPr>
        </p:nvSpPr>
        <p:spPr>
          <a:xfrm>
            <a:off x="6718300" y="2590800"/>
            <a:ext cx="5334000" cy="62865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66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67" name="Body Level One…"/>
          <p:cNvSpPr txBox="1"/>
          <p:nvPr>
            <p:ph type="body" sz="half" idx="1"/>
          </p:nvPr>
        </p:nvSpPr>
        <p:spPr>
          <a:xfrm>
            <a:off x="952500" y="2590800"/>
            <a:ext cx="5334000" cy="6286500"/>
          </a:xfrm>
          <a:prstGeom prst="rect">
            <a:avLst/>
          </a:prstGeom>
        </p:spPr>
        <p:txBody>
          <a:bodyPr/>
          <a:lstStyle>
            <a:lvl1pPr marL="342900" indent="-342900">
              <a:spcBef>
                <a:spcPts val="3200"/>
              </a:spcBef>
              <a:defRPr sz="2800"/>
            </a:lvl1pPr>
            <a:lvl2pPr marL="685800" indent="-342900">
              <a:spcBef>
                <a:spcPts val="3200"/>
              </a:spcBef>
              <a:defRPr sz="2800"/>
            </a:lvl2pPr>
            <a:lvl3pPr marL="1028700" indent="-342900">
              <a:spcBef>
                <a:spcPts val="3200"/>
              </a:spcBef>
              <a:defRPr sz="2800"/>
            </a:lvl3pPr>
            <a:lvl4pPr marL="1371600" indent="-342900">
              <a:spcBef>
                <a:spcPts val="3200"/>
              </a:spcBef>
              <a:defRPr sz="2800"/>
            </a:lvl4pPr>
            <a:lvl5pPr marL="1714500" indent="-342900">
              <a:spcBef>
                <a:spcPts val="32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/>
          <p:nvPr>
            <p:ph type="sldNum" sz="quarter" idx="2"/>
          </p:nvPr>
        </p:nvSpPr>
        <p:spPr>
          <a:xfrm>
            <a:off x="6328884" y="9296400"/>
            <a:ext cx="340259" cy="3429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Body Level One…"/>
          <p:cNvSpPr txBox="1"/>
          <p:nvPr>
            <p:ph type="body" idx="1"/>
          </p:nvPr>
        </p:nvSpPr>
        <p:spPr>
          <a:xfrm>
            <a:off x="952500" y="1270000"/>
            <a:ext cx="11099800" cy="7213600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Image"/>
          <p:cNvSpPr/>
          <p:nvPr>
            <p:ph type="pic" sz="quarter" idx="13"/>
          </p:nvPr>
        </p:nvSpPr>
        <p:spPr>
          <a:xfrm>
            <a:off x="6718300" y="5092700"/>
            <a:ext cx="5334000" cy="3771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4" name="Image"/>
          <p:cNvSpPr/>
          <p:nvPr>
            <p:ph type="pic" sz="quarter" idx="14"/>
          </p:nvPr>
        </p:nvSpPr>
        <p:spPr>
          <a:xfrm>
            <a:off x="6718300" y="889000"/>
            <a:ext cx="5334000" cy="3771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5" name="Image"/>
          <p:cNvSpPr/>
          <p:nvPr>
            <p:ph type="pic" sz="half" idx="15"/>
          </p:nvPr>
        </p:nvSpPr>
        <p:spPr>
          <a:xfrm>
            <a:off x="952500" y="889000"/>
            <a:ext cx="5334000" cy="79756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–Johnny Appleseed"/>
          <p:cNvSpPr txBox="1"/>
          <p:nvPr>
            <p:ph type="body" sz="quarter" idx="13"/>
          </p:nvPr>
        </p:nvSpPr>
        <p:spPr>
          <a:xfrm>
            <a:off x="1270000" y="6362700"/>
            <a:ext cx="10464800" cy="461366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i="1" sz="2400"/>
            </a:lvl1pPr>
          </a:lstStyle>
          <a:p>
            <a:pPr/>
            <a:r>
              <a:t>–Johnny Appleseed</a:t>
            </a:r>
          </a:p>
        </p:txBody>
      </p:sp>
      <p:sp>
        <p:nvSpPr>
          <p:cNvPr id="94" name="“Type a quote here.”"/>
          <p:cNvSpPr txBox="1"/>
          <p:nvPr>
            <p:ph type="body" sz="quarter" idx="14"/>
          </p:nvPr>
        </p:nvSpPr>
        <p:spPr>
          <a:xfrm>
            <a:off x="1270000" y="4267112"/>
            <a:ext cx="10464800" cy="609776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340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pPr/>
            <a:r>
              <a:t>“Type a quote here.” </a:t>
            </a:r>
          </a:p>
        </p:txBody>
      </p:sp>
      <p:sp>
        <p:nvSpPr>
          <p:cNvPr id="9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Image"/>
          <p:cNvSpPr/>
          <p:nvPr>
            <p:ph type="pic" idx="13"/>
          </p:nvPr>
        </p:nvSpPr>
        <p:spPr>
          <a:xfrm>
            <a:off x="0" y="0"/>
            <a:ext cx="13004800" cy="97536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0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952500" y="254000"/>
            <a:ext cx="11099800" cy="2159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952500" y="2590800"/>
            <a:ext cx="11099800" cy="628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6328884" y="9296400"/>
            <a:ext cx="340259" cy="324306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b="0" sz="16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transition xmlns:p14="http://schemas.microsoft.com/office/powerpoint/2010/main" spd="med" advClick="1"/>
  <p:txStyles>
    <p:title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444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889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333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1778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2222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2667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3111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3556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4000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e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jpeg"/><Relationship Id="rId3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e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jpe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jpe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jpeg"/><Relationship Id="rId8" Type="http://schemas.openxmlformats.org/officeDocument/2006/relationships/image" Target="../media/image6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jpe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jpe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jpeg"/><Relationship Id="rId3" Type="http://schemas.openxmlformats.org/officeDocument/2006/relationships/image" Target="../media/image10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jpe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jpe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.jpeg"/><Relationship Id="rId3" Type="http://schemas.openxmlformats.org/officeDocument/2006/relationships/image" Target="../media/image15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jpe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4.jpe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jpe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6.jpeg"/><Relationship Id="rId3" Type="http://schemas.openxmlformats.org/officeDocument/2006/relationships/image" Target="../media/image20.png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463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NextHR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NextHR</a:t>
            </a:r>
          </a:p>
        </p:txBody>
      </p:sp>
      <p:sp>
        <p:nvSpPr>
          <p:cNvPr id="120" name="Placing “human” in “human resources”"/>
          <p:cNvSpPr txBox="1"/>
          <p:nvPr>
            <p:ph type="subTitle" sz="quarter" idx="1"/>
          </p:nvPr>
        </p:nvSpPr>
        <p:spPr>
          <a:xfrm>
            <a:off x="1270000" y="5035550"/>
            <a:ext cx="10464800" cy="11303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Placing “human” in “human resources”</a:t>
            </a:r>
          </a:p>
        </p:txBody>
      </p:sp>
      <p:sp>
        <p:nvSpPr>
          <p:cNvPr id="121" name="Coordonator științific…"/>
          <p:cNvSpPr txBox="1"/>
          <p:nvPr/>
        </p:nvSpPr>
        <p:spPr>
          <a:xfrm>
            <a:off x="901700" y="7423150"/>
            <a:ext cx="4329014" cy="1130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defTabSz="344677">
              <a:defRPr b="0" sz="2183">
                <a:solidFill>
                  <a:srgbClr val="FFFFFF"/>
                </a:solidFill>
              </a:defRPr>
            </a:pPr>
            <a:r>
              <a:t>Coordonator științific</a:t>
            </a:r>
          </a:p>
          <a:p>
            <a:pPr defTabSz="344677">
              <a:defRPr b="0" sz="2183">
                <a:solidFill>
                  <a:srgbClr val="FFFFFF"/>
                </a:solidFill>
              </a:defRPr>
            </a:pPr>
            <a:r>
              <a:t>Lect. Dr. Dobrovăț Anca-Mădălina</a:t>
            </a:r>
          </a:p>
        </p:txBody>
      </p:sp>
      <p:sp>
        <p:nvSpPr>
          <p:cNvPr id="122" name="Absolvent…"/>
          <p:cNvSpPr txBox="1"/>
          <p:nvPr/>
        </p:nvSpPr>
        <p:spPr>
          <a:xfrm>
            <a:off x="8102600" y="7423150"/>
            <a:ext cx="4329014" cy="1130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>
              <a:defRPr b="0" sz="2700">
                <a:solidFill>
                  <a:srgbClr val="FFFFFF"/>
                </a:solidFill>
              </a:defRPr>
            </a:pPr>
            <a:r>
              <a:t>Absolvent</a:t>
            </a:r>
          </a:p>
          <a:p>
            <a:pPr>
              <a:defRPr b="0" sz="2700">
                <a:solidFill>
                  <a:srgbClr val="FFFFFF"/>
                </a:solidFill>
              </a:defRPr>
            </a:pPr>
            <a:r>
              <a:t>Ion Cristian-Alexandru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tile tx="0" ty="0" sx="100000" sy="100000" flip="none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Ce este NextHR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Ce este NextHR?</a:t>
            </a:r>
          </a:p>
        </p:txBody>
      </p:sp>
      <p:sp>
        <p:nvSpPr>
          <p:cNvPr id="125" name="Este o aplicație Android ce are ca principal scop ușurarea gestiunii angajaților unei companii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1">
              <a:defRPr sz="5000">
                <a:solidFill>
                  <a:srgbClr val="FFFFFF"/>
                </a:solidFill>
              </a:defRPr>
            </a:pPr>
            <a:r>
              <a:t>Este o aplicație Android ce are ca principal scop ușurarea gestiunii angajaților unei companii</a:t>
            </a:r>
          </a:p>
          <a:p>
            <a:pPr lvl="1">
              <a:defRPr sz="5000">
                <a:solidFill>
                  <a:srgbClr val="FFFFFF"/>
                </a:solidFill>
              </a:defRPr>
            </a:pPr>
            <a:r>
              <a:t>Este o unealtă ce poate fi folosită pentru micșorarea nivelului de stres prezent în angajați din cauza birocrației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tile tx="0" ty="0" sx="100000" sy="100000" flip="none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Ce este NextHR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Ce este NextHR?</a:t>
            </a:r>
          </a:p>
        </p:txBody>
      </p:sp>
      <p:pic>
        <p:nvPicPr>
          <p:cNvPr id="128" name="Untitled Diagram.png" descr="Untitled Diagra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542877" y="2359124"/>
            <a:ext cx="8140701" cy="72517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tile tx="0" ty="0" sx="100000" sy="100000" flip="none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De ce NextHR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De ce NextHR?</a:t>
            </a:r>
          </a:p>
        </p:txBody>
      </p:sp>
      <p:sp>
        <p:nvSpPr>
          <p:cNvPr id="131" name="Pentru că este simplu de folosit!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1" marL="835660" indent="-417830" defTabSz="549148">
              <a:spcBef>
                <a:spcPts val="3900"/>
              </a:spcBef>
              <a:defRPr sz="3948">
                <a:solidFill>
                  <a:srgbClr val="FFFFFF"/>
                </a:solidFill>
              </a:defRPr>
            </a:pPr>
            <a:r>
              <a:t>Pentru că este simplu de folosit!</a:t>
            </a:r>
          </a:p>
          <a:p>
            <a:pPr lvl="1" marL="835660" indent="-417830" defTabSz="549148">
              <a:spcBef>
                <a:spcPts val="3900"/>
              </a:spcBef>
              <a:defRPr sz="3948">
                <a:solidFill>
                  <a:srgbClr val="FFFFFF"/>
                </a:solidFill>
              </a:defRPr>
            </a:pPr>
            <a:r>
              <a:t>Pentru că se poate folosi de oriunde, oricând!</a:t>
            </a:r>
          </a:p>
          <a:p>
            <a:pPr lvl="1" marL="835660" indent="-417830" defTabSz="549148">
              <a:spcBef>
                <a:spcPts val="3900"/>
              </a:spcBef>
              <a:defRPr sz="3948">
                <a:solidFill>
                  <a:srgbClr val="FFFFFF"/>
                </a:solidFill>
              </a:defRPr>
            </a:pPr>
            <a:r>
              <a:t>Pentru că oricine poate să beneficieze de ea!</a:t>
            </a:r>
          </a:p>
          <a:p>
            <a:pPr lvl="1" marL="835660" indent="-417830" defTabSz="549148">
              <a:spcBef>
                <a:spcPts val="3900"/>
              </a:spcBef>
              <a:defRPr sz="3948">
                <a:solidFill>
                  <a:srgbClr val="FFFFFF"/>
                </a:solidFill>
              </a:defRPr>
            </a:pPr>
            <a:r>
              <a:t>Pentru că este scalabilă și se poate folosi de către un număr de oameni, menit să crească sau să scadă odată cu timpul!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tile tx="0" ty="0" sx="100000" sy="100000" flip="none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NextHR aduce: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8100">
                <a:solidFill>
                  <a:srgbClr val="FFFFFF"/>
                </a:solidFill>
              </a:defRPr>
            </a:lvl1pPr>
          </a:lstStyle>
          <a:p>
            <a:pPr/>
            <a:r>
              <a:t>NextHR aduce:</a:t>
            </a:r>
          </a:p>
        </p:txBody>
      </p:sp>
      <p:sp>
        <p:nvSpPr>
          <p:cNvPr id="134" name="Un sistem de pontaj monitorizat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408939" indent="-408939" defTabSz="537463">
              <a:spcBef>
                <a:spcPts val="3800"/>
              </a:spcBef>
              <a:defRPr sz="3496">
                <a:solidFill>
                  <a:srgbClr val="FFFFFF"/>
                </a:solidFill>
              </a:defRPr>
            </a:pPr>
            <a:r>
              <a:t>Un sistem de pontaj monitorizat</a:t>
            </a:r>
          </a:p>
          <a:p>
            <a:pPr marL="408939" indent="-408939" defTabSz="537463">
              <a:spcBef>
                <a:spcPts val="3800"/>
              </a:spcBef>
              <a:defRPr sz="3496">
                <a:solidFill>
                  <a:srgbClr val="FFFFFF"/>
                </a:solidFill>
              </a:defRPr>
            </a:pPr>
            <a:r>
              <a:t>Un calculator salarial și exportarea salariilor într-un format tabelar</a:t>
            </a:r>
          </a:p>
          <a:p>
            <a:pPr marL="408939" indent="-408939" defTabSz="537463">
              <a:spcBef>
                <a:spcPts val="3800"/>
              </a:spcBef>
              <a:defRPr sz="3496">
                <a:solidFill>
                  <a:srgbClr val="FFFFFF"/>
                </a:solidFill>
              </a:defRPr>
            </a:pPr>
            <a:r>
              <a:t>O mesagerie internă companiei, pentru a ține oamenii la curent mai ușor.</a:t>
            </a:r>
          </a:p>
          <a:p>
            <a:pPr marL="408939" indent="-408939" defTabSz="537463">
              <a:spcBef>
                <a:spcPts val="3800"/>
              </a:spcBef>
              <a:defRPr sz="3496">
                <a:solidFill>
                  <a:srgbClr val="FFFFFF"/>
                </a:solidFill>
              </a:defRPr>
            </a:pPr>
            <a:r>
              <a:t>Un sistem pentru gestiunea concediilor</a:t>
            </a:r>
          </a:p>
          <a:p>
            <a:pPr marL="408939" indent="-408939" defTabSz="537463">
              <a:spcBef>
                <a:spcPts val="3800"/>
              </a:spcBef>
              <a:defRPr sz="3496">
                <a:solidFill>
                  <a:srgbClr val="FFFFFF"/>
                </a:solidFill>
              </a:defRPr>
            </a:pPr>
            <a:r>
              <a:t>Alte ustensile menite să ajute angajații din domeniul resurselor umane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tile tx="0" ty="0" sx="100000" sy="100000" flip="none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hnologii folosit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Tehnologii folosite</a:t>
            </a:r>
          </a:p>
        </p:txBody>
      </p:sp>
      <p:sp>
        <p:nvSpPr>
          <p:cNvPr id="137" name="Sistemul de operare Android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413384" indent="-413384" defTabSz="543305">
              <a:spcBef>
                <a:spcPts val="3900"/>
              </a:spcBef>
              <a:defRPr sz="2976">
                <a:solidFill>
                  <a:srgbClr val="FFFFFF"/>
                </a:solidFill>
              </a:defRPr>
            </a:pPr>
            <a:r>
              <a:t>Sistemul de operare Android</a:t>
            </a:r>
          </a:p>
          <a:p>
            <a:pPr marL="413384" indent="-413384" defTabSz="543305">
              <a:spcBef>
                <a:spcPts val="3900"/>
              </a:spcBef>
              <a:defRPr sz="2976">
                <a:solidFill>
                  <a:srgbClr val="FFFFFF"/>
                </a:solidFill>
              </a:defRPr>
            </a:pPr>
            <a:r>
              <a:t>Firebase Firestore Cloud</a:t>
            </a:r>
          </a:p>
          <a:p>
            <a:pPr marL="413384" indent="-413384" defTabSz="543305">
              <a:spcBef>
                <a:spcPts val="3900"/>
              </a:spcBef>
              <a:defRPr sz="2976">
                <a:solidFill>
                  <a:srgbClr val="FFFFFF"/>
                </a:solidFill>
              </a:defRPr>
            </a:pPr>
            <a:r>
              <a:t>Firebase Auth</a:t>
            </a:r>
          </a:p>
          <a:p>
            <a:pPr marL="413384" indent="-413384" defTabSz="543305">
              <a:spcBef>
                <a:spcPts val="3900"/>
              </a:spcBef>
              <a:defRPr sz="2976">
                <a:solidFill>
                  <a:srgbClr val="FFFFFF"/>
                </a:solidFill>
              </a:defRPr>
            </a:pPr>
            <a:r>
              <a:t>Firebase Message</a:t>
            </a:r>
          </a:p>
          <a:p>
            <a:pPr marL="413384" indent="-413384" defTabSz="543305">
              <a:spcBef>
                <a:spcPts val="3900"/>
              </a:spcBef>
              <a:defRPr sz="2976">
                <a:solidFill>
                  <a:srgbClr val="FFFFFF"/>
                </a:solidFill>
              </a:defRPr>
            </a:pPr>
            <a:r>
              <a:t>Glide Library</a:t>
            </a:r>
          </a:p>
          <a:p>
            <a:pPr marL="413384" indent="-413384" defTabSz="543305">
              <a:spcBef>
                <a:spcPts val="3900"/>
              </a:spcBef>
              <a:defRPr sz="2976">
                <a:solidFill>
                  <a:srgbClr val="FFFFFF"/>
                </a:solidFill>
              </a:defRPr>
            </a:pPr>
            <a:r>
              <a:t>FontAwesome</a:t>
            </a:r>
          </a:p>
          <a:p>
            <a:pPr marL="413384" indent="-413384" defTabSz="543305">
              <a:spcBef>
                <a:spcPts val="3900"/>
              </a:spcBef>
              <a:defRPr sz="2976">
                <a:solidFill>
                  <a:srgbClr val="FFFFFF"/>
                </a:solidFill>
              </a:defRPr>
            </a:pPr>
            <a:r>
              <a:t>GitHub</a:t>
            </a:r>
          </a:p>
        </p:txBody>
      </p:sp>
      <p:pic>
        <p:nvPicPr>
          <p:cNvPr id="138" name="android-logo-png-transparent.png" descr="android-logo-png-transparent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505871" y="2147689"/>
            <a:ext cx="924027" cy="10349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39" name="DLOiUVyU8AAJODb.png" descr="DLOiUVyU8AAJODb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608218" y="2756563"/>
            <a:ext cx="2405217" cy="2384659"/>
          </a:xfrm>
          <a:prstGeom prst="rect">
            <a:avLst/>
          </a:prstGeom>
          <a:ln w="12700">
            <a:miter lim="400000"/>
          </a:ln>
        </p:spPr>
      </p:pic>
      <p:pic>
        <p:nvPicPr>
          <p:cNvPr id="140" name="firebase-authentication-solution-98a3a954-c73b-3015-8ab4-ef3b60e0724a-1503503104879.png" descr="firebase-authentication-solution-98a3a954-c73b-3015-8ab4-ef3b60e0724a-1503503104879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4209355" y="4397143"/>
            <a:ext cx="924027" cy="924027"/>
          </a:xfrm>
          <a:prstGeom prst="rect">
            <a:avLst/>
          </a:prstGeom>
          <a:ln w="12700">
            <a:miter lim="400000"/>
          </a:ln>
        </p:spPr>
      </p:pic>
      <p:pic>
        <p:nvPicPr>
          <p:cNvPr id="141" name="fontawesome.png" descr="fontawesome.png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4209355" y="7305312"/>
            <a:ext cx="924027" cy="773872"/>
          </a:xfrm>
          <a:prstGeom prst="rect">
            <a:avLst/>
          </a:prstGeom>
          <a:ln w="12700">
            <a:miter lim="400000"/>
          </a:ln>
        </p:spPr>
      </p:pic>
      <p:pic>
        <p:nvPicPr>
          <p:cNvPr id="142" name="Logo_Cloud_Messaging.jpg" descr="Logo_Cloud_Messaging.jpg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5074791" y="5484784"/>
            <a:ext cx="1056846" cy="731866"/>
          </a:xfrm>
          <a:prstGeom prst="rect">
            <a:avLst/>
          </a:prstGeom>
          <a:ln w="12700">
            <a:miter lim="400000"/>
          </a:ln>
        </p:spPr>
      </p:pic>
      <p:pic>
        <p:nvPicPr>
          <p:cNvPr id="143" name="github-512.png" descr="github-512.png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2831901" y="8112371"/>
            <a:ext cx="924027" cy="92402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tile tx="0" ty="0" sx="100000" sy="100000" flip="none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CRUD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CRUDs</a:t>
            </a:r>
          </a:p>
        </p:txBody>
      </p:sp>
      <p:sp>
        <p:nvSpPr>
          <p:cNvPr id="146" name="Pentru ca aplicația să poată fi folosite de mai multe companii simultan, nivelul de generalitate a trebuit sa fie ridicat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 anchor="t"/>
          <a:lstStyle/>
          <a:p>
            <a:pPr>
              <a:defRPr>
                <a:solidFill>
                  <a:srgbClr val="FFFFFF"/>
                </a:solidFill>
              </a:defRPr>
            </a:pPr>
            <a:r>
              <a:t>Pentru ca aplicația să poată fi folosite de mai multe companii simultan, nivelul de generalitate a trebuit sa fie ridicat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Aplicația aduce diferite CRUD-uri (create/read/update/delete interface) pentru angajați, departamente, job-uri, etc.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Fiecare companie poate să aibă propriile structuri de angajați, departamente, locații pentru o gestiune mai ușoară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tile tx="0" ty="0" sx="100000" sy="100000" flip="none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CRUD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CRUDs</a:t>
            </a:r>
          </a:p>
        </p:txBody>
      </p:sp>
      <p:pic>
        <p:nvPicPr>
          <p:cNvPr id="149" name="Screenshot 2019-06-24 at 15.02.01.png" descr="Screenshot 2019-06-24 at 15.02.01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19273" y="2773263"/>
            <a:ext cx="7391401" cy="2501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50" name="Screenshot 2019-06-24 at 15.03.06.png" descr="Screenshot 2019-06-24 at 15.03.06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627814" y="3505200"/>
            <a:ext cx="4038601" cy="5080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51" name="Screenshot 2019-06-24 at 15.04.09.png" descr="Screenshot 2019-06-24 at 15.04.09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2827287" y="5635426"/>
            <a:ext cx="3975101" cy="45847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tile tx="0" ty="0" sx="100000" sy="100000" flip="none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ontajul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Pontajul</a:t>
            </a:r>
          </a:p>
        </p:txBody>
      </p:sp>
      <p:sp>
        <p:nvSpPr>
          <p:cNvPr id="154" name="Fiecare angajat se poate ponta de pe telefonul său mobil…"/>
          <p:cNvSpPr txBox="1"/>
          <p:nvPr>
            <p:ph type="body" sz="half" idx="1"/>
          </p:nvPr>
        </p:nvSpPr>
        <p:spPr>
          <a:xfrm>
            <a:off x="952500" y="2590800"/>
            <a:ext cx="5677992" cy="6286500"/>
          </a:xfrm>
          <a:prstGeom prst="rect">
            <a:avLst/>
          </a:prstGeom>
        </p:spPr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Fiecare angajat se poate ponta de pe telefonul său mobil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Directorul de departament are posibilitatea să vadă daca un angajat s-a pontat într-o anumită zi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Angajații pot să își vadă orele pontate pentru fiecare zi a lunii</a:t>
            </a:r>
          </a:p>
        </p:txBody>
      </p:sp>
      <p:pic>
        <p:nvPicPr>
          <p:cNvPr id="155" name="Screenshot 2019-06-24 at 14.14.45.png" descr="Screenshot 2019-06-24 at 14.14.45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779841" y="2512417"/>
            <a:ext cx="4089401" cy="68326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tile tx="0" ty="0" sx="100000" sy="100000" flip="none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Calculatorul salarial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Calculatorul salarial</a:t>
            </a:r>
          </a:p>
        </p:txBody>
      </p:sp>
      <p:sp>
        <p:nvSpPr>
          <p:cNvPr id="158" name="Angajatul poate să își vadă salariul calculat pentru fiecare lună în parte, odată cu totalul de ore pe care acesta le-a efectuat…"/>
          <p:cNvSpPr txBox="1"/>
          <p:nvPr>
            <p:ph type="body" sz="half" idx="1"/>
          </p:nvPr>
        </p:nvSpPr>
        <p:spPr>
          <a:xfrm>
            <a:off x="952500" y="2590800"/>
            <a:ext cx="7762875" cy="4223743"/>
          </a:xfrm>
          <a:prstGeom prst="rect">
            <a:avLst/>
          </a:prstGeom>
        </p:spPr>
        <p:txBody>
          <a:bodyPr/>
          <a:lstStyle/>
          <a:p>
            <a:pPr marL="342264" indent="-342264" defTabSz="449833">
              <a:spcBef>
                <a:spcPts val="3200"/>
              </a:spcBef>
              <a:defRPr sz="2464">
                <a:solidFill>
                  <a:srgbClr val="FFFFFF"/>
                </a:solidFill>
              </a:defRPr>
            </a:pPr>
            <a:r>
              <a:t>Angajatul poate să își vadă salariul calculat pentru fiecare lună în parte, odată cu totalul de ore pe care acesta le-a efectuat</a:t>
            </a:r>
          </a:p>
          <a:p>
            <a:pPr marL="342264" indent="-342264" defTabSz="449833">
              <a:spcBef>
                <a:spcPts val="3200"/>
              </a:spcBef>
              <a:defRPr sz="2464">
                <a:solidFill>
                  <a:srgbClr val="FFFFFF"/>
                </a:solidFill>
              </a:defRPr>
            </a:pPr>
            <a:r>
              <a:t>Totodată știe și cu cât este platit pentru o oră de muncă</a:t>
            </a:r>
          </a:p>
          <a:p>
            <a:pPr marL="342264" indent="-342264" defTabSz="449833">
              <a:spcBef>
                <a:spcPts val="3200"/>
              </a:spcBef>
              <a:defRPr sz="2464">
                <a:solidFill>
                  <a:srgbClr val="FFFFFF"/>
                </a:solidFill>
              </a:defRPr>
            </a:pPr>
            <a:r>
              <a:t>Calculul este bazat pe datele obțiunute din pontaj și cereri de concediu, angajatul nu trebuie să mai introducă nimic în sistem în momentul interogării calculatorului.</a:t>
            </a:r>
          </a:p>
        </p:txBody>
      </p:sp>
      <p:pic>
        <p:nvPicPr>
          <p:cNvPr id="159" name="Screenshot 2019-06-24 at 14.21.36.png" descr="Screenshot 2019-06-24 at 14.21.36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181207" y="2453474"/>
            <a:ext cx="2312854" cy="4056614"/>
          </a:xfrm>
          <a:prstGeom prst="rect">
            <a:avLst/>
          </a:prstGeom>
          <a:ln w="12700">
            <a:miter lim="400000"/>
          </a:ln>
        </p:spPr>
      </p:pic>
      <p:pic>
        <p:nvPicPr>
          <p:cNvPr id="160" name="Screenshot 2019-06-24 at 14.21.47.png" descr="Screenshot 2019-06-24 at 14.21.47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239477" y="7150701"/>
            <a:ext cx="2525846" cy="280927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tile tx="0" ty="0" sx="100000" sy="100000" flip="none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Exportul salariilo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Exportul salariilor</a:t>
            </a:r>
          </a:p>
        </p:txBody>
      </p:sp>
      <p:sp>
        <p:nvSpPr>
          <p:cNvPr id="163" name="Angajații ce au drepturi de administrator pot să genereze din sistem, fise de lucru tabelare pentru salariile de pe o anumită lună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 anchor="t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Angajații ce au drepturi de administrator pot să genereze din sistem, fise de lucru tabelare pentru salariile de pe o anumită lună</a:t>
            </a:r>
          </a:p>
        </p:txBody>
      </p:sp>
      <p:pic>
        <p:nvPicPr>
          <p:cNvPr id="164" name="Screenshot 2019-06-24 at 14.25.19.png" descr="Screenshot 2019-06-24 at 14.25.19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952750" y="4254351"/>
            <a:ext cx="7099300" cy="24511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65" name="Screenshot 2019-06-24 at 14.26.07.png" descr="Screenshot 2019-06-24 at 14.26.07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952750" y="6811784"/>
            <a:ext cx="7099300" cy="146641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tile tx="0" ty="0" sx="100000" sy="100000" flip="none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Mesagerie internă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Mesagerie internă</a:t>
            </a:r>
          </a:p>
        </p:txBody>
      </p:sp>
      <p:sp>
        <p:nvSpPr>
          <p:cNvPr id="168" name="Pentru a putea menține toți angajați la curent cu năutățile din cadrul companiei, NextHR a implementat un sistem de mesagerie…"/>
          <p:cNvSpPr txBox="1"/>
          <p:nvPr>
            <p:ph type="body" sz="half" idx="1"/>
          </p:nvPr>
        </p:nvSpPr>
        <p:spPr>
          <a:xfrm>
            <a:off x="952500" y="2590800"/>
            <a:ext cx="6523187" cy="6286500"/>
          </a:xfrm>
          <a:prstGeom prst="rect">
            <a:avLst/>
          </a:prstGeom>
        </p:spPr>
        <p:txBody>
          <a:bodyPr anchor="t"/>
          <a:lstStyle/>
          <a:p>
            <a:pPr marL="426719" indent="-426719" defTabSz="560831">
              <a:spcBef>
                <a:spcPts val="4000"/>
              </a:spcBef>
              <a:defRPr sz="3072">
                <a:solidFill>
                  <a:srgbClr val="FFFFFF"/>
                </a:solidFill>
              </a:defRPr>
            </a:pPr>
            <a:r>
              <a:t>Pentru a putea menține toți angajați la curent cu năutățile din cadrul companiei, NextHR a implementat un sistem de mesagerie</a:t>
            </a:r>
          </a:p>
          <a:p>
            <a:pPr marL="426719" indent="-426719" defTabSz="560831">
              <a:spcBef>
                <a:spcPts val="4000"/>
              </a:spcBef>
              <a:defRPr sz="3072">
                <a:solidFill>
                  <a:srgbClr val="FFFFFF"/>
                </a:solidFill>
              </a:defRPr>
            </a:pPr>
            <a:r>
              <a:t>Acest sistem este în timp real și beneficiază de un serviciu de notificări, pentru ca orice mesaj să poată fi văzut la timp</a:t>
            </a:r>
          </a:p>
          <a:p>
            <a:pPr marL="426719" indent="-426719" defTabSz="560831">
              <a:spcBef>
                <a:spcPts val="4000"/>
              </a:spcBef>
              <a:defRPr sz="3072">
                <a:solidFill>
                  <a:srgbClr val="FFFFFF"/>
                </a:solidFill>
              </a:defRPr>
            </a:pPr>
            <a:r>
              <a:t>Toți angajații au acces la serviciul de mesagerie!</a:t>
            </a:r>
          </a:p>
        </p:txBody>
      </p:sp>
      <p:pic>
        <p:nvPicPr>
          <p:cNvPr id="169" name="Screenshot 2019-06-24 at 14.37.26.png" descr="Screenshot 2019-06-24 at 14.37.26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404522" y="2406650"/>
            <a:ext cx="3987801" cy="66548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tile tx="0" ty="0" sx="100000" sy="100000" flip="none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Mesagerie internă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Mesagerie internă</a:t>
            </a:r>
          </a:p>
        </p:txBody>
      </p:sp>
      <p:sp>
        <p:nvSpPr>
          <p:cNvPr id="172" name="Pentru a putea menține toți angajați la curent cu năutățile din cadrul companiei, NextHR a implementat un sistem de mesagerie…"/>
          <p:cNvSpPr txBox="1"/>
          <p:nvPr>
            <p:ph type="body" sz="half" idx="1"/>
          </p:nvPr>
        </p:nvSpPr>
        <p:spPr>
          <a:xfrm>
            <a:off x="952500" y="2590800"/>
            <a:ext cx="6523187" cy="6286500"/>
          </a:xfrm>
          <a:prstGeom prst="rect">
            <a:avLst/>
          </a:prstGeom>
        </p:spPr>
        <p:txBody>
          <a:bodyPr anchor="t"/>
          <a:lstStyle/>
          <a:p>
            <a:pPr marL="426719" indent="-426719" defTabSz="560831">
              <a:spcBef>
                <a:spcPts val="4000"/>
              </a:spcBef>
              <a:defRPr sz="3072">
                <a:solidFill>
                  <a:srgbClr val="FFFFFF"/>
                </a:solidFill>
              </a:defRPr>
            </a:pPr>
            <a:r>
              <a:t>Pentru a putea menține toți angajați la curent cu năutățile din cadrul companiei, NextHR a implementat un sistem de mesagerie</a:t>
            </a:r>
          </a:p>
          <a:p>
            <a:pPr marL="426719" indent="-426719" defTabSz="560831">
              <a:spcBef>
                <a:spcPts val="4000"/>
              </a:spcBef>
              <a:defRPr sz="3072">
                <a:solidFill>
                  <a:srgbClr val="FFFFFF"/>
                </a:solidFill>
              </a:defRPr>
            </a:pPr>
            <a:r>
              <a:t>Acest sistem este în timp real și beneficiază de un serviciu de notificări, pentru ca orice mesaj să poată fi văzut la timp</a:t>
            </a:r>
          </a:p>
          <a:p>
            <a:pPr marL="426719" indent="-426719" defTabSz="560831">
              <a:spcBef>
                <a:spcPts val="4000"/>
              </a:spcBef>
              <a:defRPr sz="3072">
                <a:solidFill>
                  <a:srgbClr val="FFFFFF"/>
                </a:solidFill>
              </a:defRPr>
            </a:pPr>
            <a:r>
              <a:t>Toți angajații au acces la serviciul de mesagerie!</a:t>
            </a:r>
          </a:p>
        </p:txBody>
      </p:sp>
      <p:pic>
        <p:nvPicPr>
          <p:cNvPr id="173" name="Screenshot 2019-06-24 at 14.37.26.png" descr="Screenshot 2019-06-24 at 14.37.26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404522" y="2406650"/>
            <a:ext cx="3987801" cy="6654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74" name="Screenshot 2019-06-24 at 14.38.33.png" descr="Screenshot 2019-06-24 at 14.38.33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410872" y="2432050"/>
            <a:ext cx="3975101" cy="6604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tile tx="0" ty="0" sx="100000" sy="100000" flip="none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Concedii și vacanț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Concedii și vacanțe</a:t>
            </a:r>
          </a:p>
        </p:txBody>
      </p:sp>
      <p:sp>
        <p:nvSpPr>
          <p:cNvPr id="177" name="Angajatul, înainte de toate, este om și are nevoie de de pauze și vacanțe pentru a își încărca propriile bateri…"/>
          <p:cNvSpPr txBox="1"/>
          <p:nvPr>
            <p:ph type="body" idx="1"/>
          </p:nvPr>
        </p:nvSpPr>
        <p:spPr>
          <a:xfrm>
            <a:off x="952500" y="2590800"/>
            <a:ext cx="11513741" cy="5530850"/>
          </a:xfrm>
          <a:prstGeom prst="rect">
            <a:avLst/>
          </a:prstGeom>
        </p:spPr>
        <p:txBody>
          <a:bodyPr anchor="t"/>
          <a:lstStyle/>
          <a:p>
            <a:pPr marL="400050" indent="-400050" defTabSz="525779">
              <a:spcBef>
                <a:spcPts val="3700"/>
              </a:spcBef>
              <a:defRPr sz="2880">
                <a:solidFill>
                  <a:srgbClr val="FFFFFF"/>
                </a:solidFill>
              </a:defRPr>
            </a:pPr>
            <a:r>
              <a:t>Angajatul, înainte de toate, este om și are nevoie de de pauze și vacanțe pentru a își încărca propriile bateri</a:t>
            </a:r>
          </a:p>
          <a:p>
            <a:pPr marL="400050" indent="-400050" defTabSz="525779">
              <a:spcBef>
                <a:spcPts val="3700"/>
              </a:spcBef>
              <a:defRPr sz="2880">
                <a:solidFill>
                  <a:srgbClr val="FFFFFF"/>
                </a:solidFill>
              </a:defRPr>
            </a:pPr>
            <a:r>
              <a:t>NextHR aduce un sistem foarte ușor de folosit, pentru gestiunea cererilor de concedii.</a:t>
            </a:r>
          </a:p>
          <a:p>
            <a:pPr marL="400050" indent="-400050" defTabSz="525779">
              <a:spcBef>
                <a:spcPts val="3700"/>
              </a:spcBef>
              <a:defRPr sz="2880">
                <a:solidFill>
                  <a:srgbClr val="FFFFFF"/>
                </a:solidFill>
              </a:defRPr>
            </a:pPr>
            <a:r>
              <a:t>Angajații pot să creeze și să își vadă cererile de concedii din trecut</a:t>
            </a:r>
          </a:p>
          <a:p>
            <a:pPr marL="400050" indent="-400050" defTabSz="525779">
              <a:spcBef>
                <a:spcPts val="3700"/>
              </a:spcBef>
              <a:defRPr sz="2880">
                <a:solidFill>
                  <a:srgbClr val="FFFFFF"/>
                </a:solidFill>
              </a:defRPr>
            </a:pPr>
            <a:r>
              <a:t>Directorii de departament sunt notificați de fiecare dată când un angajat a făcut o cerere de concediu</a:t>
            </a:r>
          </a:p>
          <a:p>
            <a:pPr marL="400050" indent="-400050" defTabSz="525779">
              <a:spcBef>
                <a:spcPts val="3700"/>
              </a:spcBef>
              <a:defRPr sz="2880">
                <a:solidFill>
                  <a:srgbClr val="FFFFFF"/>
                </a:solidFill>
              </a:defRPr>
            </a:pPr>
            <a:r>
              <a:t>Angajatul este notificat când cererea a fost respinsă sau acceptată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tile tx="0" ty="0" sx="100000" sy="100000" flip="none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Concedii și vacanț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Concedii și vacanțe</a:t>
            </a:r>
          </a:p>
        </p:txBody>
      </p:sp>
      <p:pic>
        <p:nvPicPr>
          <p:cNvPr id="180" name="Screenshot 2019-06-24 at 14.45.57.png" descr="Screenshot 2019-06-24 at 14.45.57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06450" y="2063051"/>
            <a:ext cx="6591300" cy="3556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81" name="Screenshot 2019-06-24 at 14.46.30.png" descr="Screenshot 2019-06-24 at 14.46.30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7423150" y="3073400"/>
            <a:ext cx="5524500" cy="1828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82" name="Screenshot 2019-06-24 at 14.48.11.png" descr="Screenshot 2019-06-24 at 14.48.11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3251200" y="6007496"/>
            <a:ext cx="6502400" cy="34290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tile tx="0" ty="0" sx="100000" sy="100000" flip="none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Securitat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Securitate</a:t>
            </a:r>
          </a:p>
        </p:txBody>
      </p:sp>
      <p:sp>
        <p:nvSpPr>
          <p:cNvPr id="185" name="Aplicația folosește serverele și serviciile Firebase ( de la Google) pentru stocarea datelor companiilor și informațiile conturilor angajaților…"/>
          <p:cNvSpPr txBox="1"/>
          <p:nvPr>
            <p:ph type="body" sz="half" idx="1"/>
          </p:nvPr>
        </p:nvSpPr>
        <p:spPr>
          <a:xfrm>
            <a:off x="952500" y="2597150"/>
            <a:ext cx="11353800" cy="3722936"/>
          </a:xfrm>
          <a:prstGeom prst="rect">
            <a:avLst/>
          </a:prstGeom>
        </p:spPr>
        <p:txBody>
          <a:bodyPr anchor="t"/>
          <a:lstStyle/>
          <a:p>
            <a:pPr marL="413384" indent="-413384" defTabSz="543305">
              <a:spcBef>
                <a:spcPts val="3900"/>
              </a:spcBef>
              <a:defRPr sz="2976">
                <a:solidFill>
                  <a:srgbClr val="FFFFFF"/>
                </a:solidFill>
              </a:defRPr>
            </a:pPr>
            <a:r>
              <a:t>Aplicația folosește serverele și serviciile Firebase ( de la Google) pentru stocarea datelor companiilor și informațiile conturilor angajaților</a:t>
            </a:r>
          </a:p>
          <a:p>
            <a:pPr marL="413384" indent="-413384" defTabSz="543305">
              <a:spcBef>
                <a:spcPts val="3900"/>
              </a:spcBef>
              <a:defRPr sz="2976">
                <a:solidFill>
                  <a:srgbClr val="FFFFFF"/>
                </a:solidFill>
              </a:defRPr>
            </a:pPr>
            <a:r>
              <a:t>Deși angajați sunt introduși în sistem de către un administrator, parola este introdusă de ei, printr-un link primit pe mail ce îi redirectionează la o interfață Google pentru setarea și resetarea parolei.</a:t>
            </a:r>
          </a:p>
        </p:txBody>
      </p:sp>
      <p:pic>
        <p:nvPicPr>
          <p:cNvPr id="186" name="Screenshot 2019-06-24 at 15.08.53.png" descr="Screenshot 2019-06-24 at 15.08.53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52512" y="6400353"/>
            <a:ext cx="11353801" cy="44577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463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Concluzii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Concluzii</a:t>
            </a:r>
          </a:p>
        </p:txBody>
      </p:sp>
      <p:sp>
        <p:nvSpPr>
          <p:cNvPr id="189" name="NextHR oferă generalitate și scalabilitate companiilor din întreaga lum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355599" indent="-355599" defTabSz="467359">
              <a:spcBef>
                <a:spcPts val="3300"/>
              </a:spcBef>
              <a:defRPr>
                <a:solidFill>
                  <a:srgbClr val="FFFFFF"/>
                </a:solidFill>
              </a:defRPr>
            </a:pPr>
            <a:r>
              <a:t>NextHR oferă generalitate și scalabilitate companiilor din întreaga lume</a:t>
            </a:r>
          </a:p>
          <a:p>
            <a:pPr marL="355599" indent="-355599" defTabSz="467359">
              <a:spcBef>
                <a:spcPts val="3300"/>
              </a:spcBef>
              <a:defRPr>
                <a:solidFill>
                  <a:srgbClr val="FFFFFF"/>
                </a:solidFill>
              </a:defRPr>
            </a:pPr>
            <a:r>
              <a:t>Întreg sistemul poate fi accesat de oriunde, prin intermediul smartphone-ului.</a:t>
            </a:r>
          </a:p>
          <a:p>
            <a:pPr marL="355599" indent="-355599" defTabSz="467359">
              <a:spcBef>
                <a:spcPts val="3300"/>
              </a:spcBef>
              <a:defRPr>
                <a:solidFill>
                  <a:srgbClr val="FFFFFF"/>
                </a:solidFill>
              </a:defRPr>
            </a:pPr>
            <a:r>
              <a:t>Informațiile trebuie ajutate să circule rapid prin intermediul serviciilor în timp real, NextHR dând astfel de exemple concrete</a:t>
            </a:r>
          </a:p>
          <a:p>
            <a:pPr marL="355599" indent="-355599" defTabSz="467359">
              <a:spcBef>
                <a:spcPts val="3300"/>
              </a:spcBef>
              <a:defRPr>
                <a:solidFill>
                  <a:srgbClr val="FFFFFF"/>
                </a:solidFill>
              </a:defRPr>
            </a:pPr>
            <a:r>
              <a:t>Timpul este o resursă prețioasă, iar aplicațiile precum NextHR le dau oamenilor timpul înapoi, pentru a face ceva mult mai productiv cu el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1" baseline="0" cap="none" i="0" spc="0" strike="noStrike" sz="2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1" baseline="0" cap="none" i="0" spc="0" strike="noStrike" sz="2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